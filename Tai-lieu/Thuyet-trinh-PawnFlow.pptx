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6418bd71204549" /><Relationship Type="http://schemas.openxmlformats.org/officeDocument/2006/relationships/extended-properties" Target="/docProps/app.xml" Id="R7e8a9d9a9c474197" /><Relationship Type="http://schemas.openxmlformats.org/officeDocument/2006/relationships/officeDocument" Target="/ppt/presentation.xml" Id="Rba1395251e62456c" /></Relationships>
</file>

<file path=ppt/presentation.xml><?xml version="1.0" encoding="utf-8"?>
<p:presentation xmlns:p="http://schemas.openxmlformats.org/presentationml/2006/main">
  <p:sldMasterIdLst>
    <p:sldMasterId xmlns:r="http://schemas.openxmlformats.org/officeDocument/2006/relationships" id="2147483648" r:id="R687066e54d464173"/>
  </p:sldMasterIdLst>
  <p:notesMasterIdLst>
    <p:notesMasterId xmlns:r="http://schemas.openxmlformats.org/officeDocument/2006/relationships" r:id="R1c280797c29f486e"/>
  </p:notesMasterIdLst>
  <p:sldIdLst>
    <p:sldId xmlns:r="http://schemas.openxmlformats.org/officeDocument/2006/relationships" id="256" r:id="R97bd12cf34e049cd"/>
    <p:sldId xmlns:r="http://schemas.openxmlformats.org/officeDocument/2006/relationships" id="257" r:id="Rb5532020a0554549"/>
    <p:sldId xmlns:r="http://schemas.openxmlformats.org/officeDocument/2006/relationships" id="258" r:id="Re2663e8e12b3467f"/>
    <p:sldId xmlns:r="http://schemas.openxmlformats.org/officeDocument/2006/relationships" id="259" r:id="R8392b8c9448e4280"/>
    <p:sldId xmlns:r="http://schemas.openxmlformats.org/officeDocument/2006/relationships" id="260" r:id="Ra85d4939c54f4e5c"/>
    <p:sldId xmlns:r="http://schemas.openxmlformats.org/officeDocument/2006/relationships" id="261" r:id="R3173890c0e8b42b6"/>
    <p:sldId xmlns:r="http://schemas.openxmlformats.org/officeDocument/2006/relationships" id="262" r:id="Rd8d2cec7960d4c7b"/>
    <p:sldId xmlns:r="http://schemas.openxmlformats.org/officeDocument/2006/relationships" id="263" r:id="R3fb60966cb7548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96380fc07b4e0a" /><Relationship Type="http://schemas.openxmlformats.org/officeDocument/2006/relationships/slideMaster" Target="/ppt/slideMasters/slideMaster1.xml" Id="R687066e54d464173" /><Relationship Type="http://schemas.openxmlformats.org/officeDocument/2006/relationships/notesMaster" Target="/ppt/notesMasters/notesMaster1.xml" Id="R1c280797c29f486e" /><Relationship Type="http://schemas.openxmlformats.org/officeDocument/2006/relationships/presProps" Target="/ppt/presProps.xml" Id="R8f2cbfaa61aa4f0a" /><Relationship Type="http://schemas.openxmlformats.org/officeDocument/2006/relationships/tableStyles" Target="/ppt/tableStyles.xml" Id="R7480580dc89a47b5" /><Relationship Type="http://schemas.openxmlformats.org/officeDocument/2006/relationships/slide" Target="/ppt/slides/slide1.xml" Id="R97bd12cf34e049cd" /><Relationship Type="http://schemas.openxmlformats.org/officeDocument/2006/relationships/slide" Target="/ppt/slides/slide2.xml" Id="Rb5532020a0554549" /><Relationship Type="http://schemas.openxmlformats.org/officeDocument/2006/relationships/slide" Target="/ppt/slides/slide3.xml" Id="Re2663e8e12b3467f" /><Relationship Type="http://schemas.openxmlformats.org/officeDocument/2006/relationships/slide" Target="/ppt/slides/slide4.xml" Id="R8392b8c9448e4280" /><Relationship Type="http://schemas.openxmlformats.org/officeDocument/2006/relationships/slide" Target="/ppt/slides/slide5.xml" Id="Ra85d4939c54f4e5c" /><Relationship Type="http://schemas.openxmlformats.org/officeDocument/2006/relationships/slide" Target="/ppt/slides/slide6.xml" Id="R3173890c0e8b42b6" /><Relationship Type="http://schemas.openxmlformats.org/officeDocument/2006/relationships/slide" Target="/ppt/slides/slide7.xml" Id="Rd8d2cec7960d4c7b" /><Relationship Type="http://schemas.openxmlformats.org/officeDocument/2006/relationships/slide" Target="/ppt/slides/slide8.xml" Id="R3fb60966cb7548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cbe5676e4147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542fded11d4d94" /><Relationship Type="http://schemas.openxmlformats.org/officeDocument/2006/relationships/notesMaster" Target="/ppt/notesMasters/notesMaster1.xml" Id="R271b3a10894b41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592c9f39374e0d" /><Relationship Type="http://schemas.openxmlformats.org/officeDocument/2006/relationships/notesMaster" Target="/ppt/notesMasters/notesMaster1.xml" Id="R06ed505e835141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12755abc2941a6" /><Relationship Type="http://schemas.openxmlformats.org/officeDocument/2006/relationships/notesMaster" Target="/ppt/notesMasters/notesMaster1.xml" Id="R4755a349986f4a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84c68f85e94525" /><Relationship Type="http://schemas.openxmlformats.org/officeDocument/2006/relationships/notesMaster" Target="/ppt/notesMasters/notesMaster1.xml" Id="R01a010c686e141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8eeff8e5e14b0e" /><Relationship Type="http://schemas.openxmlformats.org/officeDocument/2006/relationships/notesMaster" Target="/ppt/notesMasters/notesMaster1.xml" Id="Rf9e39bb2609742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8be74ce3df4eae" /><Relationship Type="http://schemas.openxmlformats.org/officeDocument/2006/relationships/notesMaster" Target="/ppt/notesMasters/notesMaster1.xml" Id="R5af53650f9a246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4451f9bd224bad" /><Relationship Type="http://schemas.openxmlformats.org/officeDocument/2006/relationships/notesMaster" Target="/ppt/notesMasters/notesMaster1.xml" Id="R8d3bcdc1dae34d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d022fc44964738" /><Relationship Type="http://schemas.openxmlformats.org/officeDocument/2006/relationships/notesMaster" Target="/ppt/notesMasters/notesMaster1.xml" Id="R427bcd89730b41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đề tài bài tập lớn Lập trình web. Nhóm bổ sung trường, giảng viên và thành viên trước khi nộp.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Staff được xem, thêm và sửa. Admin có thêm quyền xóa hồ sơ và tạo nhân viên. Không chuyển trạng thái hợp đồng thành bằng chứng thanh toán.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 Razor hiển thị. Controller xử lý quyền, validation và nghiệp vụ. EF Core truy cập SQL Server. Fetch trả PartialView cho AJAX.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ERD chi tiết có trong báo cáo và tệp draw.io. Customers có quan hệ một nhiều với PawnContracts. AppUsers quản lý thông tin xác thực.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Cookie HttpOnly, SameSite. POST, PUT, DELETE có anti-forgery token. PasswordHasher lưu hash. Tài khoản khóa sau 5 lần sai qua nhiều phiên. Tệp tài nguyên vi-VN và en-US dịch nhãn, display và thông báo.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Verification/Program.cs và integration-results.txt, ngày 16/10/2026. 32 assertion PASS trên InMemory. Môi trường công cụ bị Windows từ chối truy cập LocalDB, chưa xác nhận SQL PASS. Kiem-tra-SQL.cmd tạo database riêng, chạy cùng test và kiểm tra FK, UNIQUE,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3 phút. Dùng dữ liệu giả. Tạo khách hàng, tạo hợp đồng, đổi trạng thái, lọc AJAX và trang 2. Đăng nhập Staff để trình bày việc bị từ chối xóa. Không demo SQL khi chưa hoàn tất khởi tạo.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phần mã nguồn đã hoàn thành và SQL chưa xác minh. Không tuyên bố sản phẩm đã được kiểm toán nghiệp vụ tài chính. Hướng phát triển: nhật ký kiểm toán, lịch sử thu tiền/lãi, khôi phục dữ liệu và xử lý sửa đồng thời.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4146e054ea42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2d7cc55bd04f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ba6a82f5c345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915beba1eec4b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d25230facb48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7eea8c8f354d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8BAF20-5AC2-4CEE-99F3-F7F102398C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DE2FCC-1EBB-46BA-8558-90F494ACB4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2E0F82-9BAA-4C2B-A20D-9F2EA1FC0E2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1D17E7-FF1F-4CE4-B2A5-C912629751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5F0216-D94E-4EBB-97F5-12D0879BD59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899265-3D55-49DC-8349-8DE275220A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CB4345-A552-4574-BCEF-B1B1E5DABB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50F054-67DE-471F-A7C3-9C3BB48A439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6CF9A5-3D96-44AA-A783-BC1247D617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598454-C413-4D66-90B9-7FFC432AD3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8146c4d2af4792" /><Relationship Type="http://schemas.openxmlformats.org/officeDocument/2006/relationships/slideLayout" Target="/ppt/slideLayouts/slideLayout1.xml" Id="Rcb6f23b023ca4bab" /><Relationship Type="http://schemas.openxmlformats.org/officeDocument/2006/relationships/slideLayout" Target="/ppt/slideLayouts/slideLayout2.xml" Id="R613cc598d4d14418" /><Relationship Type="http://schemas.openxmlformats.org/officeDocument/2006/relationships/slideLayout" Target="/ppt/slideLayouts/slideLayout3.xml" Id="Rd807856193d24c5d" /><Relationship Type="http://schemas.openxmlformats.org/officeDocument/2006/relationships/slideLayout" Target="/ppt/slideLayouts/slideLayout4.xml" Id="R32010904687e4cb1" /><Relationship Type="http://schemas.openxmlformats.org/officeDocument/2006/relationships/slideLayout" Target="/ppt/slideLayouts/slideLayout5.xml" Id="R3f00d79d93ac41ce" /><Relationship Type="http://schemas.openxmlformats.org/officeDocument/2006/relationships/slideLayout" Target="/ppt/slideLayouts/slideLayout6.xml" Id="R1191b7b1a0fd44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6f23b023ca4bab"/>
    <p:sldLayoutId xmlns:r="http://schemas.openxmlformats.org/officeDocument/2006/relationships" id="2147483650" r:id="R613cc598d4d14418"/>
    <p:sldLayoutId xmlns:r="http://schemas.openxmlformats.org/officeDocument/2006/relationships" id="2147483651" r:id="Rd807856193d24c5d"/>
    <p:sldLayoutId xmlns:r="http://schemas.openxmlformats.org/officeDocument/2006/relationships" id="2147483652" r:id="R32010904687e4cb1"/>
    <p:sldLayoutId xmlns:r="http://schemas.openxmlformats.org/officeDocument/2006/relationships" id="2147483653" r:id="R3f00d79d93ac41ce"/>
    <p:sldLayoutId xmlns:r="http://schemas.openxmlformats.org/officeDocument/2006/relationships" id="2147483654" r:id="R1191b7b1a0fd44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929b0d591504a67" /><Relationship Type="http://schemas.openxmlformats.org/officeDocument/2006/relationships/notesSlide" Target="/ppt/notesSlides/notesSlide1.xml" Id="Rdbc03bcb8c7e4f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c057b5a4b24bff" /><Relationship Type="http://schemas.openxmlformats.org/officeDocument/2006/relationships/notesSlide" Target="/ppt/notesSlides/notesSlide2.xml" Id="Rce9c3e8fd16444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396dd56f554167" /><Relationship Type="http://schemas.openxmlformats.org/officeDocument/2006/relationships/notesSlide" Target="/ppt/notesSlides/notesSlide3.xml" Id="R6a14e538b7c642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db351c629d44dc" /><Relationship Type="http://schemas.openxmlformats.org/officeDocument/2006/relationships/notesSlide" Target="/ppt/notesSlides/notesSlide4.xml" Id="R2381fb2ceeef42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2791a2c65b5449f" /><Relationship Type="http://schemas.openxmlformats.org/officeDocument/2006/relationships/notesSlide" Target="/ppt/notesSlides/notesSlide5.xml" Id="Rf68d8fa6b95146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f4ac4543224237" /><Relationship Type="http://schemas.openxmlformats.org/officeDocument/2006/relationships/notesSlide" Target="/ppt/notesSlides/notesSlide6.xml" Id="R836133e814bb48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20135483aa45dc" /><Relationship Type="http://schemas.openxmlformats.org/officeDocument/2006/relationships/notesSlide" Target="/ppt/notesSlides/notesSlide7.xml" Id="Rda533c8f4d3446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91537527d1f4b24" /><Relationship Type="http://schemas.openxmlformats.org/officeDocument/2006/relationships/notesSlide" Target="/ppt/notesSlides/notesSlide8.xml" Id="R6293e06b253e4dd6" /></Relationships>
</file>

<file path=ppt/slides/slide1.xml><?xml version="1.0" encoding="utf-8"?>
<p:sld xmlns:p="http://schemas.openxmlformats.org/presentationml/2006/main">
  <p:cSld>
    <p:bg>
      <p:bgPr>
        <a:solidFill xmlns:a="http://schemas.openxmlformats.org/drawingml/2006/main">
          <a:srgbClr val="F6F9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985FAA-7FC8-4258-81F9-DA8C8ACBB59B}"/>
              </a:ext>
            </a:extLst>
          </p:cNvPr>
          <p:cNvSpPr>
            <a:spLocks xmlns:a="http://schemas.openxmlformats.org/drawingml/2006/main" noGrp="1"/>
          </p:cNvSpPr>
          <p:nvPr/>
        </p:nvSpPr>
        <p:spPr>
          <a:xfrm xmlns:a="http://schemas.openxmlformats.org/drawingml/2006/main">
            <a:off x="666750" y="4762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831"/>
                </a:solidFill>
                <a:latin typeface="Segoe UI"/>
                <a:ea typeface="Segoe UI"/>
                <a:cs typeface="Segoe UI"/>
              </a:defRPr>
            </a:defPPr>
          </a:lstStyle>
          <a:p xmlns:a="http://schemas.openxmlformats.org/drawingml/2006/main">
            <a:pPr>
              <a:defRPr sz="3300" b="1">
                <a:solidFill>
                  <a:srgbClr val="183831"/>
                </a:solidFill>
                <a:latin typeface="Segoe UI"/>
                <a:ea typeface="Segoe UI"/>
                <a:cs typeface="Segoe UI"/>
              </a:defRPr>
            </a:pPr>
            <a:r>
              <a:rPr sz="3300" b="1">
                <a:solidFill>
                  <a:srgbClr val="183831"/>
                </a:solidFill>
                <a:latin typeface="Segoe UI"/>
                <a:ea typeface="Segoe UI"/>
                <a:cs typeface="Segoe UI"/>
              </a:rPr>
              <a:t>Hệ thống quản lý cầm đồ PawnFlow</a:t>
            </a:r>
          </a:p>
        </p:txBody>
      </p:sp>
      <p:sp>
        <p:nvSpPr>
          <p:cNvPr id="2" name="">
            <a:extLst xmlns:a="http://schemas.openxmlformats.org/drawingml/2006/main">
              <a:ext uri="{FF2B5EF4-FFF2-40B4-BE49-F238E27FC236}">
                <a16:creationId xmlns:a16="http://schemas.microsoft.com/office/drawing/2014/main" id="{CDD147A2-3A02-4827-BC7F-DF63F257A4D4}"/>
              </a:ext>
            </a:extLst>
          </p:cNvPr>
          <p:cNvSpPr>
            <a:spLocks xmlns:a="http://schemas.openxmlformats.org/drawingml/2006/main" noGrp="1"/>
          </p:cNvSpPr>
          <p:nvPr/>
        </p:nvSpPr>
        <p:spPr>
          <a:xfrm xmlns:a="http://schemas.openxmlformats.org/drawingml/2006/main">
            <a:off x="1114425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66E"/>
                </a:solidFill>
                <a:latin typeface="Segoe UI"/>
                <a:ea typeface="Segoe UI"/>
                <a:cs typeface="Segoe UI"/>
              </a:defRPr>
            </a:defPPr>
          </a:lstStyle>
          <a:p xmlns:a="http://schemas.openxmlformats.org/drawingml/2006/main">
            <a:pPr>
              <a:defRPr sz="1200" b="0">
                <a:solidFill>
                  <a:srgbClr val="60766E"/>
                </a:solidFill>
                <a:latin typeface="Segoe UI"/>
                <a:ea typeface="Segoe UI"/>
                <a:cs typeface="Segoe UI"/>
              </a:defRPr>
            </a:pPr>
            <a:r>
              <a:rPr sz="1200" b="0">
                <a:solidFill>
                  <a:srgbClr val="60766E"/>
                </a:solidFill>
                <a:latin typeface="Segoe UI"/>
                <a:ea typeface="Segoe UI"/>
                <a:cs typeface="Segoe UI"/>
              </a:rPr>
              <a:t>01</a:t>
            </a:r>
          </a:p>
        </p:txBody>
      </p:sp>
      <p:sp>
        <p:nvSpPr>
          <p:cNvPr id="3" name="">
            <a:extLst xmlns:a="http://schemas.openxmlformats.org/drawingml/2006/main">
              <a:ext uri="{FF2B5EF4-FFF2-40B4-BE49-F238E27FC236}">
                <a16:creationId xmlns:a16="http://schemas.microsoft.com/office/drawing/2014/main" id="{C4DD2270-C9EC-4D01-BBF7-18BBA87E8416}"/>
              </a:ext>
            </a:extLst>
          </p:cNvPr>
          <p:cNvSpPr>
            <a:spLocks xmlns:a="http://schemas.openxmlformats.org/drawingml/2006/main" noGrp="1"/>
          </p:cNvSpPr>
          <p:nvPr/>
        </p:nvSpPr>
        <p:spPr>
          <a:xfrm xmlns:a="http://schemas.openxmlformats.org/drawingml/2006/main">
            <a:off x="704850" y="176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6765F"/>
                </a:solidFill>
                <a:latin typeface="Segoe UI"/>
                <a:ea typeface="Segoe UI"/>
                <a:cs typeface="Segoe UI"/>
              </a:defRPr>
            </a:defPPr>
          </a:lstStyle>
          <a:p xmlns:a="http://schemas.openxmlformats.org/drawingml/2006/main">
            <a:pPr>
              <a:defRPr sz="2550" b="0">
                <a:solidFill>
                  <a:srgbClr val="16765F"/>
                </a:solidFill>
                <a:latin typeface="Segoe UI"/>
                <a:ea typeface="Segoe UI"/>
                <a:cs typeface="Segoe UI"/>
              </a:defRPr>
            </a:pPr>
            <a:r>
              <a:rPr sz="2550" b="0">
                <a:solidFill>
                  <a:srgbClr val="16765F"/>
                </a:solidFill>
                <a:latin typeface="Segoe UI"/>
                <a:ea typeface="Segoe UI"/>
                <a:cs typeface="Segoe UI"/>
              </a:rPr>
              <a:t>Bài tập lớn Lập trình web</a:t>
            </a:r>
          </a:p>
        </p:txBody>
      </p:sp>
      <p:sp>
        <p:nvSpPr>
          <p:cNvPr id="4" name="">
            <a:extLst xmlns:a="http://schemas.openxmlformats.org/drawingml/2006/main">
              <a:ext uri="{FF2B5EF4-FFF2-40B4-BE49-F238E27FC236}">
                <a16:creationId xmlns:a16="http://schemas.microsoft.com/office/drawing/2014/main" id="{6375C6CF-7984-44D6-8C5A-360B7D8B76C3}"/>
              </a:ext>
            </a:extLst>
          </p:cNvPr>
          <p:cNvSpPr>
            <a:spLocks xmlns:a="http://schemas.openxmlformats.org/drawingml/2006/main" noGrp="1"/>
          </p:cNvSpPr>
          <p:nvPr/>
        </p:nvSpPr>
        <p:spPr>
          <a:xfrm xmlns:a="http://schemas.openxmlformats.org/drawingml/2006/main">
            <a:off x="704850" y="26670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750" b="1">
                <a:solidFill>
                  <a:srgbClr val="183831"/>
                </a:solidFill>
                <a:latin typeface="Segoe UI"/>
                <a:ea typeface="Segoe UI"/>
                <a:cs typeface="Segoe UI"/>
              </a:defRPr>
            </a:defPPr>
          </a:lstStyle>
          <a:p xmlns:a="http://schemas.openxmlformats.org/drawingml/2006/main">
            <a:pPr>
              <a:defRPr sz="3750" b="1">
                <a:solidFill>
                  <a:srgbClr val="183831"/>
                </a:solidFill>
                <a:latin typeface="Segoe UI"/>
                <a:ea typeface="Segoe UI"/>
                <a:cs typeface="Segoe UI"/>
              </a:defRPr>
            </a:pPr>
            <a:r>
              <a:rPr sz="3750" b="1">
                <a:solidFill>
                  <a:srgbClr val="183831"/>
                </a:solidFill>
                <a:latin typeface="Segoe UI"/>
                <a:ea typeface="Segoe UI"/>
                <a:cs typeface="Segoe UI"/>
              </a:rPr>
              <a:t>ASP.NET Core MVC và SQL Server</a:t>
            </a:r>
          </a:p>
        </p:txBody>
      </p:sp>
      <p:sp>
        <p:nvSpPr>
          <p:cNvPr id="5" name="">
            <a:extLst xmlns:a="http://schemas.openxmlformats.org/drawingml/2006/main">
              <a:ext uri="{FF2B5EF4-FFF2-40B4-BE49-F238E27FC236}">
                <a16:creationId xmlns:a16="http://schemas.microsoft.com/office/drawing/2014/main" id="{BB2F3669-479B-4CA7-B3DD-6D2D6C0B65E4}"/>
              </a:ext>
            </a:extLst>
          </p:cNvPr>
          <p:cNvSpPr>
            <a:spLocks xmlns:a="http://schemas.openxmlformats.org/drawingml/2006/main" noGrp="1"/>
          </p:cNvSpPr>
          <p:nvPr/>
        </p:nvSpPr>
        <p:spPr>
          <a:xfrm xmlns:a="http://schemas.openxmlformats.org/drawingml/2006/main">
            <a:off x="704850" y="381000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60766E"/>
                </a:solidFill>
                <a:latin typeface="Segoe UI"/>
                <a:ea typeface="Segoe UI"/>
                <a:cs typeface="Segoe UI"/>
              </a:defRPr>
            </a:defPPr>
          </a:lstStyle>
          <a:p xmlns:a="http://schemas.openxmlformats.org/drawingml/2006/main">
            <a:pPr>
              <a:defRPr sz="2325" b="0">
                <a:solidFill>
                  <a:srgbClr val="60766E"/>
                </a:solidFill>
                <a:latin typeface="Segoe UI"/>
                <a:ea typeface="Segoe UI"/>
                <a:cs typeface="Segoe UI"/>
              </a:defRPr>
            </a:pPr>
            <a:r>
              <a:rPr sz="2325" b="0">
                <a:solidFill>
                  <a:srgbClr val="60766E"/>
                </a:solidFill>
                <a:latin typeface="Segoe UI"/>
                <a:ea typeface="Segoe UI"/>
                <a:cs typeface="Segoe UI"/>
              </a:rPr>
              <a:t>Quản lý khách hàng và hợp đồng</a:t>
            </a:r>
          </a:p>
          <a:p xmlns:a="http://schemas.openxmlformats.org/drawingml/2006/main">
            <a:pPr>
              <a:defRPr sz="2325" b="0">
                <a:solidFill>
                  <a:srgbClr val="60766E"/>
                </a:solidFill>
                <a:latin typeface="Segoe UI"/>
                <a:ea typeface="Segoe UI"/>
                <a:cs typeface="Segoe UI"/>
              </a:defRPr>
            </a:pPr>
            <a:r>
              <a:rPr sz="2325" b="0">
                <a:solidFill>
                  <a:srgbClr val="60766E"/>
                </a:solidFill>
                <a:latin typeface="Segoe UI"/>
                <a:ea typeface="Segoe UI"/>
                <a:cs typeface="Segoe UI"/>
              </a:rPr>
              <a:t>Phân quyền quản trị viên và nhân viên</a:t>
            </a:r>
          </a:p>
        </p:txBody>
      </p:sp>
    </p:spTree>
    <p:extLst>
      <p:ext uri="{BB962C8B-B14F-4D97-AF65-F5344CB8AC3E}">
        <p14:creationId xmlns:p14="http://schemas.microsoft.com/office/powerpoint/2010/main" val="1882271307"/>
      </p:ext>
    </p:extLst>
  </p:cSld>
</p:sld>
</file>

<file path=ppt/slides/slide2.xml><?xml version="1.0" encoding="utf-8"?>
<p:sld xmlns:p="http://schemas.openxmlformats.org/presentationml/2006/main">
  <p:cSld>
    <p:bg>
      <p:bgPr>
        <a:solidFill xmlns:a="http://schemas.openxmlformats.org/drawingml/2006/main">
          <a:srgbClr val="F6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6FAF9E-5363-44CA-BA91-01579EC27555}"/>
              </a:ext>
            </a:extLst>
          </p:cNvPr>
          <p:cNvSpPr>
            <a:spLocks xmlns:a="http://schemas.openxmlformats.org/drawingml/2006/main" noGrp="1"/>
          </p:cNvSpPr>
          <p:nvPr/>
        </p:nvSpPr>
        <p:spPr>
          <a:xfrm xmlns:a="http://schemas.openxmlformats.org/drawingml/2006/main">
            <a:off x="666750" y="4762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831"/>
                </a:solidFill>
                <a:latin typeface="Segoe UI"/>
                <a:ea typeface="Segoe UI"/>
                <a:cs typeface="Segoe UI"/>
              </a:defRPr>
            </a:defPPr>
          </a:lstStyle>
          <a:p xmlns:a="http://schemas.openxmlformats.org/drawingml/2006/main">
            <a:pPr>
              <a:defRPr sz="3300" b="1">
                <a:solidFill>
                  <a:srgbClr val="183831"/>
                </a:solidFill>
                <a:latin typeface="Segoe UI"/>
                <a:ea typeface="Segoe UI"/>
                <a:cs typeface="Segoe UI"/>
              </a:defRPr>
            </a:pPr>
            <a:r>
              <a:rPr sz="3300" b="1">
                <a:solidFill>
                  <a:srgbClr val="183831"/>
                </a:solidFill>
                <a:latin typeface="Segoe UI"/>
                <a:ea typeface="Segoe UI"/>
                <a:cs typeface="Segoe UI"/>
              </a:rPr>
              <a:t>Phạm vi và người dùng</a:t>
            </a:r>
          </a:p>
        </p:txBody>
      </p:sp>
      <p:sp>
        <p:nvSpPr>
          <p:cNvPr id="2" name="">
            <a:extLst xmlns:a="http://schemas.openxmlformats.org/drawingml/2006/main">
              <a:ext uri="{FF2B5EF4-FFF2-40B4-BE49-F238E27FC236}">
                <a16:creationId xmlns:a16="http://schemas.microsoft.com/office/drawing/2014/main" id="{7B995C00-9CC5-40E9-AD56-D0E94313DB8B}"/>
              </a:ext>
            </a:extLst>
          </p:cNvPr>
          <p:cNvSpPr>
            <a:spLocks xmlns:a="http://schemas.openxmlformats.org/drawingml/2006/main" noGrp="1"/>
          </p:cNvSpPr>
          <p:nvPr/>
        </p:nvSpPr>
        <p:spPr>
          <a:xfrm xmlns:a="http://schemas.openxmlformats.org/drawingml/2006/main">
            <a:off x="1114425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66E"/>
                </a:solidFill>
                <a:latin typeface="Segoe UI"/>
                <a:ea typeface="Segoe UI"/>
                <a:cs typeface="Segoe UI"/>
              </a:defRPr>
            </a:defPPr>
          </a:lstStyle>
          <a:p xmlns:a="http://schemas.openxmlformats.org/drawingml/2006/main">
            <a:pPr>
              <a:defRPr sz="1200" b="0">
                <a:solidFill>
                  <a:srgbClr val="60766E"/>
                </a:solidFill>
                <a:latin typeface="Segoe UI"/>
                <a:ea typeface="Segoe UI"/>
                <a:cs typeface="Segoe UI"/>
              </a:defRPr>
            </a:pPr>
            <a:r>
              <a:rPr sz="1200" b="0">
                <a:solidFill>
                  <a:srgbClr val="60766E"/>
                </a:solidFill>
                <a:latin typeface="Segoe UI"/>
                <a:ea typeface="Segoe UI"/>
                <a:cs typeface="Segoe UI"/>
              </a:rPr>
              <a:t>02</a:t>
            </a:r>
          </a:p>
        </p:txBody>
      </p:sp>
      <p:sp>
        <p:nvSpPr>
          <p:cNvPr id="3" name="">
            <a:extLst xmlns:a="http://schemas.openxmlformats.org/drawingml/2006/main">
              <a:ext uri="{FF2B5EF4-FFF2-40B4-BE49-F238E27FC236}">
                <a16:creationId xmlns:a16="http://schemas.microsoft.com/office/drawing/2014/main" id="{ED936747-57C9-4C3E-B708-3C16BB545179}"/>
              </a:ext>
            </a:extLst>
          </p:cNvPr>
          <p:cNvSpPr>
            <a:spLocks xmlns:a="http://schemas.openxmlformats.org/drawingml/2006/main" noGrp="1"/>
          </p:cNvSpPr>
          <p:nvPr/>
        </p:nvSpPr>
        <p:spPr>
          <a:xfrm xmlns:a="http://schemas.openxmlformats.org/drawingml/2006/main">
            <a:off x="704850" y="176212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6765F"/>
                </a:solidFill>
                <a:latin typeface="Segoe UI"/>
                <a:ea typeface="Segoe UI"/>
                <a:cs typeface="Segoe UI"/>
              </a:defRPr>
            </a:defPPr>
          </a:lstStyle>
          <a:p xmlns:a="http://schemas.openxmlformats.org/drawingml/2006/main">
            <a:pPr>
              <a:defRPr sz="2550" b="1">
                <a:solidFill>
                  <a:srgbClr val="16765F"/>
                </a:solidFill>
                <a:latin typeface="Segoe UI"/>
                <a:ea typeface="Segoe UI"/>
                <a:cs typeface="Segoe UI"/>
              </a:defRPr>
            </a:pPr>
            <a:r>
              <a:rPr sz="2550" b="1">
                <a:solidFill>
                  <a:srgbClr val="16765F"/>
                </a:solidFill>
                <a:latin typeface="Segoe UI"/>
                <a:ea typeface="Segoe UI"/>
                <a:cs typeface="Segoe UI"/>
              </a:rPr>
              <a:t>Nhân viên</a:t>
            </a:r>
          </a:p>
        </p:txBody>
      </p:sp>
      <p:sp>
        <p:nvSpPr>
          <p:cNvPr id="4" name="">
            <a:extLst xmlns:a="http://schemas.openxmlformats.org/drawingml/2006/main">
              <a:ext uri="{FF2B5EF4-FFF2-40B4-BE49-F238E27FC236}">
                <a16:creationId xmlns:a16="http://schemas.microsoft.com/office/drawing/2014/main" id="{302EAFBD-054B-49D2-ABDA-12B3C490D018}"/>
              </a:ext>
            </a:extLst>
          </p:cNvPr>
          <p:cNvSpPr>
            <a:spLocks xmlns:a="http://schemas.openxmlformats.org/drawingml/2006/main" noGrp="1"/>
          </p:cNvSpPr>
          <p:nvPr/>
        </p:nvSpPr>
        <p:spPr>
          <a:xfrm xmlns:a="http://schemas.openxmlformats.org/drawingml/2006/main">
            <a:off x="704850" y="25241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831"/>
                </a:solidFill>
                <a:latin typeface="Segoe UI"/>
                <a:ea typeface="Segoe UI"/>
                <a:cs typeface="Segoe UI"/>
              </a:defRPr>
            </a:defPPr>
          </a:lstStyle>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Tra cứu khách hàng và tài sản</a:t>
            </a:r>
          </a:p>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Tạo và cập nhật hợp đồng</a:t>
            </a:r>
          </a:p>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Lọc và phân trang danh sách</a:t>
            </a:r>
          </a:p>
        </p:txBody>
      </p:sp>
      <p:sp>
        <p:nvSpPr>
          <p:cNvPr id="5" name="">
            <a:extLst xmlns:a="http://schemas.openxmlformats.org/drawingml/2006/main">
              <a:ext uri="{FF2B5EF4-FFF2-40B4-BE49-F238E27FC236}">
                <a16:creationId xmlns:a16="http://schemas.microsoft.com/office/drawing/2014/main" id="{10F60DD3-A610-4A65-9415-7FED7141E44C}"/>
              </a:ext>
            </a:extLst>
          </p:cNvPr>
          <p:cNvSpPr>
            <a:spLocks xmlns:a="http://schemas.openxmlformats.org/drawingml/2006/main" noGrp="1"/>
          </p:cNvSpPr>
          <p:nvPr/>
        </p:nvSpPr>
        <p:spPr>
          <a:xfrm xmlns:a="http://schemas.openxmlformats.org/drawingml/2006/main">
            <a:off x="6572250" y="176212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6765F"/>
                </a:solidFill>
                <a:latin typeface="Segoe UI"/>
                <a:ea typeface="Segoe UI"/>
                <a:cs typeface="Segoe UI"/>
              </a:defRPr>
            </a:defPPr>
          </a:lstStyle>
          <a:p xmlns:a="http://schemas.openxmlformats.org/drawingml/2006/main">
            <a:pPr>
              <a:defRPr sz="2550" b="1">
                <a:solidFill>
                  <a:srgbClr val="16765F"/>
                </a:solidFill>
                <a:latin typeface="Segoe UI"/>
                <a:ea typeface="Segoe UI"/>
                <a:cs typeface="Segoe UI"/>
              </a:defRPr>
            </a:pPr>
            <a:r>
              <a:rPr sz="2550" b="1">
                <a:solidFill>
                  <a:srgbClr val="16765F"/>
                </a:solidFill>
                <a:latin typeface="Segoe UI"/>
                <a:ea typeface="Segoe UI"/>
                <a:cs typeface="Segoe UI"/>
              </a:rPr>
              <a:t>Quản trị viên</a:t>
            </a:r>
          </a:p>
        </p:txBody>
      </p:sp>
      <p:sp>
        <p:nvSpPr>
          <p:cNvPr id="6" name="">
            <a:extLst xmlns:a="http://schemas.openxmlformats.org/drawingml/2006/main">
              <a:ext uri="{FF2B5EF4-FFF2-40B4-BE49-F238E27FC236}">
                <a16:creationId xmlns:a16="http://schemas.microsoft.com/office/drawing/2014/main" id="{CC01819E-5786-4F49-9926-F148A86CD4C5}"/>
              </a:ext>
            </a:extLst>
          </p:cNvPr>
          <p:cNvSpPr>
            <a:spLocks xmlns:a="http://schemas.openxmlformats.org/drawingml/2006/main" noGrp="1"/>
          </p:cNvSpPr>
          <p:nvPr/>
        </p:nvSpPr>
        <p:spPr>
          <a:xfrm xmlns:a="http://schemas.openxmlformats.org/drawingml/2006/main">
            <a:off x="6572250" y="25241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831"/>
                </a:solidFill>
                <a:latin typeface="Segoe UI"/>
                <a:ea typeface="Segoe UI"/>
                <a:cs typeface="Segoe UI"/>
              </a:defRPr>
            </a:defPPr>
          </a:lstStyle>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Các chức năng của nhân viên</a:t>
            </a:r>
          </a:p>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Xóa hồ sơ theo ràng buộc</a:t>
            </a:r>
          </a:p>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Tạo tài khoản nhân viên</a:t>
            </a:r>
          </a:p>
        </p:txBody>
      </p:sp>
      <p:sp>
        <p:nvSpPr>
          <p:cNvPr id="7" name="">
            <a:extLst xmlns:a="http://schemas.openxmlformats.org/drawingml/2006/main">
              <a:ext uri="{FF2B5EF4-FFF2-40B4-BE49-F238E27FC236}">
                <a16:creationId xmlns:a16="http://schemas.microsoft.com/office/drawing/2014/main" id="{7E5788F3-0132-4AB8-A909-92F05DAEDC9E}"/>
              </a:ext>
            </a:extLst>
          </p:cNvPr>
          <p:cNvSpPr>
            <a:spLocks xmlns:a="http://schemas.openxmlformats.org/drawingml/2006/main" noGrp="1"/>
          </p:cNvSpPr>
          <p:nvPr/>
        </p:nvSpPr>
        <p:spPr>
          <a:xfrm xmlns:a="http://schemas.openxmlformats.org/drawingml/2006/main">
            <a:off x="704850" y="542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60766E"/>
                </a:solidFill>
                <a:latin typeface="Segoe UI"/>
                <a:ea typeface="Segoe UI"/>
                <a:cs typeface="Segoe UI"/>
              </a:defRPr>
            </a:defPPr>
          </a:lstStyle>
          <a:p xmlns:a="http://schemas.openxmlformats.org/drawingml/2006/main">
            <a:pPr>
              <a:defRPr sz="2025" b="0">
                <a:solidFill>
                  <a:srgbClr val="60766E"/>
                </a:solidFill>
                <a:latin typeface="Segoe UI"/>
                <a:ea typeface="Segoe UI"/>
                <a:cs typeface="Segoe UI"/>
              </a:defRPr>
            </a:pPr>
            <a:r>
              <a:rPr sz="2025" b="0">
                <a:solidFill>
                  <a:srgbClr val="60766E"/>
                </a:solidFill>
                <a:latin typeface="Segoe UI"/>
                <a:ea typeface="Segoe UI"/>
                <a:cs typeface="Segoe UI"/>
              </a:rPr>
              <a:t>Khách hàng còn hợp đồng không thể bị xóa.</a:t>
            </a:r>
          </a:p>
        </p:txBody>
      </p:sp>
    </p:spTree>
    <p:extLst>
      <p:ext uri="{BB962C8B-B14F-4D97-AF65-F5344CB8AC3E}">
        <p14:creationId xmlns:p14="http://schemas.microsoft.com/office/powerpoint/2010/main" val="1109432588"/>
      </p:ext>
    </p:extLst>
  </p:cSld>
</p:sld>
</file>

<file path=ppt/slides/slide3.xml><?xml version="1.0" encoding="utf-8"?>
<p:sld xmlns:p="http://schemas.openxmlformats.org/presentationml/2006/main">
  <p:cSld>
    <p:bg>
      <p:bgPr>
        <a:solidFill xmlns:a="http://schemas.openxmlformats.org/drawingml/2006/main">
          <a:srgbClr val="F6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81BA84-AF92-4842-A487-ADE355BD7256}"/>
              </a:ext>
            </a:extLst>
          </p:cNvPr>
          <p:cNvSpPr>
            <a:spLocks xmlns:a="http://schemas.openxmlformats.org/drawingml/2006/main" noGrp="1"/>
          </p:cNvSpPr>
          <p:nvPr/>
        </p:nvSpPr>
        <p:spPr>
          <a:xfrm xmlns:a="http://schemas.openxmlformats.org/drawingml/2006/main">
            <a:off x="666750" y="4762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831"/>
                </a:solidFill>
                <a:latin typeface="Segoe UI"/>
                <a:ea typeface="Segoe UI"/>
                <a:cs typeface="Segoe UI"/>
              </a:defRPr>
            </a:defPPr>
          </a:lstStyle>
          <a:p xmlns:a="http://schemas.openxmlformats.org/drawingml/2006/main">
            <a:pPr>
              <a:defRPr sz="3300" b="1">
                <a:solidFill>
                  <a:srgbClr val="183831"/>
                </a:solidFill>
                <a:latin typeface="Segoe UI"/>
                <a:ea typeface="Segoe UI"/>
                <a:cs typeface="Segoe UI"/>
              </a:defRPr>
            </a:pPr>
            <a:r>
              <a:rPr sz="3300" b="1">
                <a:solidFill>
                  <a:srgbClr val="183831"/>
                </a:solidFill>
                <a:latin typeface="Segoe UI"/>
                <a:ea typeface="Segoe UI"/>
                <a:cs typeface="Segoe UI"/>
              </a:rPr>
              <a:t>Kiến trúc ứng dụng</a:t>
            </a:r>
          </a:p>
        </p:txBody>
      </p:sp>
      <p:sp>
        <p:nvSpPr>
          <p:cNvPr id="2" name="">
            <a:extLst xmlns:a="http://schemas.openxmlformats.org/drawingml/2006/main">
              <a:ext uri="{FF2B5EF4-FFF2-40B4-BE49-F238E27FC236}">
                <a16:creationId xmlns:a16="http://schemas.microsoft.com/office/drawing/2014/main" id="{4439CBB7-A23D-40D3-9F8E-45F823365887}"/>
              </a:ext>
            </a:extLst>
          </p:cNvPr>
          <p:cNvSpPr>
            <a:spLocks xmlns:a="http://schemas.openxmlformats.org/drawingml/2006/main" noGrp="1"/>
          </p:cNvSpPr>
          <p:nvPr/>
        </p:nvSpPr>
        <p:spPr>
          <a:xfrm xmlns:a="http://schemas.openxmlformats.org/drawingml/2006/main">
            <a:off x="1114425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66E"/>
                </a:solidFill>
                <a:latin typeface="Segoe UI"/>
                <a:ea typeface="Segoe UI"/>
                <a:cs typeface="Segoe UI"/>
              </a:defRPr>
            </a:defPPr>
          </a:lstStyle>
          <a:p xmlns:a="http://schemas.openxmlformats.org/drawingml/2006/main">
            <a:pPr>
              <a:defRPr sz="1200" b="0">
                <a:solidFill>
                  <a:srgbClr val="60766E"/>
                </a:solidFill>
                <a:latin typeface="Segoe UI"/>
                <a:ea typeface="Segoe UI"/>
                <a:cs typeface="Segoe UI"/>
              </a:defRPr>
            </a:pPr>
            <a:r>
              <a:rPr sz="1200" b="0">
                <a:solidFill>
                  <a:srgbClr val="60766E"/>
                </a:solidFill>
                <a:latin typeface="Segoe UI"/>
                <a:ea typeface="Segoe UI"/>
                <a:cs typeface="Segoe UI"/>
              </a:rPr>
              <a:t>03</a:t>
            </a:r>
          </a:p>
        </p:txBody>
      </p:sp>
      <p:sp>
        <p:nvSpPr>
          <p:cNvPr id="3" name="">
            <a:extLst xmlns:a="http://schemas.openxmlformats.org/drawingml/2006/main">
              <a:ext uri="{FF2B5EF4-FFF2-40B4-BE49-F238E27FC236}">
                <a16:creationId xmlns:a16="http://schemas.microsoft.com/office/drawing/2014/main" id="{8630545E-9461-47C7-B53E-6E800F343037}"/>
              </a:ext>
            </a:extLst>
          </p:cNvPr>
          <p:cNvSpPr>
            <a:spLocks xmlns:a="http://schemas.openxmlformats.org/drawingml/2006/main" noGrp="1"/>
          </p:cNvSpPr>
          <p:nvPr/>
        </p:nvSpPr>
        <p:spPr>
          <a:xfrm xmlns:a="http://schemas.openxmlformats.org/drawingml/2006/main">
            <a:off x="704850" y="1762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6765F"/>
                </a:solidFill>
                <a:latin typeface="Segoe UI"/>
                <a:ea typeface="Segoe UI"/>
                <a:cs typeface="Segoe UI"/>
              </a:defRPr>
            </a:defPPr>
          </a:lstStyle>
          <a:p xmlns:a="http://schemas.openxmlformats.org/drawingml/2006/main">
            <a:pPr>
              <a:defRPr sz="2550" b="1">
                <a:solidFill>
                  <a:srgbClr val="16765F"/>
                </a:solidFill>
                <a:latin typeface="Segoe UI"/>
                <a:ea typeface="Segoe UI"/>
                <a:cs typeface="Segoe UI"/>
              </a:defRPr>
            </a:pPr>
            <a:r>
              <a:rPr sz="2550" b="1">
                <a:solidFill>
                  <a:srgbClr val="16765F"/>
                </a:solidFill>
                <a:latin typeface="Segoe UI"/>
                <a:ea typeface="Segoe UI"/>
                <a:cs typeface="Segoe UI"/>
              </a:rPr>
              <a:t>Razor và Bootstrap</a:t>
            </a:r>
          </a:p>
        </p:txBody>
      </p:sp>
      <p:sp>
        <p:nvSpPr>
          <p:cNvPr id="4" name="">
            <a:extLst xmlns:a="http://schemas.openxmlformats.org/drawingml/2006/main">
              <a:ext uri="{FF2B5EF4-FFF2-40B4-BE49-F238E27FC236}">
                <a16:creationId xmlns:a16="http://schemas.microsoft.com/office/drawing/2014/main" id="{6339BA2C-0CDC-4B4A-B6A8-7A2D3521E29B}"/>
              </a:ext>
            </a:extLst>
          </p:cNvPr>
          <p:cNvSpPr>
            <a:spLocks xmlns:a="http://schemas.openxmlformats.org/drawingml/2006/main" noGrp="1"/>
          </p:cNvSpPr>
          <p:nvPr/>
        </p:nvSpPr>
        <p:spPr>
          <a:xfrm xmlns:a="http://schemas.openxmlformats.org/drawingml/2006/main">
            <a:off x="704850" y="2571750"/>
            <a:ext cx="4953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831"/>
                </a:solidFill>
                <a:latin typeface="Segoe UI"/>
                <a:ea typeface="Segoe UI"/>
                <a:cs typeface="Segoe UI"/>
              </a:defRPr>
            </a:defPPr>
          </a:lstStyle>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Giao diện responsive</a:t>
            </a:r>
          </a:p>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Biểu mẫu và thông báo lỗi</a:t>
            </a:r>
          </a:p>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AJAX cho bộ lọc hợp đồng</a:t>
            </a:r>
          </a:p>
        </p:txBody>
      </p:sp>
      <p:sp>
        <p:nvSpPr>
          <p:cNvPr id="5" name="">
            <a:extLst xmlns:a="http://schemas.openxmlformats.org/drawingml/2006/main">
              <a:ext uri="{FF2B5EF4-FFF2-40B4-BE49-F238E27FC236}">
                <a16:creationId xmlns:a16="http://schemas.microsoft.com/office/drawing/2014/main" id="{DBF7E644-2636-429A-B79F-5310B7869283}"/>
              </a:ext>
            </a:extLst>
          </p:cNvPr>
          <p:cNvSpPr>
            <a:spLocks xmlns:a="http://schemas.openxmlformats.org/drawingml/2006/main" noGrp="1"/>
          </p:cNvSpPr>
          <p:nvPr/>
        </p:nvSpPr>
        <p:spPr>
          <a:xfrm xmlns:a="http://schemas.openxmlformats.org/drawingml/2006/main">
            <a:off x="6572250" y="1762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6765F"/>
                </a:solidFill>
                <a:latin typeface="Segoe UI"/>
                <a:ea typeface="Segoe UI"/>
                <a:cs typeface="Segoe UI"/>
              </a:defRPr>
            </a:defPPr>
          </a:lstStyle>
          <a:p xmlns:a="http://schemas.openxmlformats.org/drawingml/2006/main">
            <a:pPr>
              <a:defRPr sz="2550" b="1">
                <a:solidFill>
                  <a:srgbClr val="16765F"/>
                </a:solidFill>
                <a:latin typeface="Segoe UI"/>
                <a:ea typeface="Segoe UI"/>
                <a:cs typeface="Segoe UI"/>
              </a:defRPr>
            </a:pPr>
            <a:r>
              <a:rPr sz="2550" b="1">
                <a:solidFill>
                  <a:srgbClr val="16765F"/>
                </a:solidFill>
                <a:latin typeface="Segoe UI"/>
                <a:ea typeface="Segoe UI"/>
                <a:cs typeface="Segoe UI"/>
              </a:rPr>
              <a:t>Controller và EF Core</a:t>
            </a:r>
          </a:p>
        </p:txBody>
      </p:sp>
      <p:sp>
        <p:nvSpPr>
          <p:cNvPr id="6" name="">
            <a:extLst xmlns:a="http://schemas.openxmlformats.org/drawingml/2006/main">
              <a:ext uri="{FF2B5EF4-FFF2-40B4-BE49-F238E27FC236}">
                <a16:creationId xmlns:a16="http://schemas.microsoft.com/office/drawing/2014/main" id="{46E42B73-28F5-46FB-9A8B-41238849E891}"/>
              </a:ext>
            </a:extLst>
          </p:cNvPr>
          <p:cNvSpPr>
            <a:spLocks xmlns:a="http://schemas.openxmlformats.org/drawingml/2006/main" noGrp="1"/>
          </p:cNvSpPr>
          <p:nvPr/>
        </p:nvSpPr>
        <p:spPr>
          <a:xfrm xmlns:a="http://schemas.openxmlformats.org/drawingml/2006/main">
            <a:off x="6572250" y="2571750"/>
            <a:ext cx="4762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831"/>
                </a:solidFill>
                <a:latin typeface="Segoe UI"/>
                <a:ea typeface="Segoe UI"/>
                <a:cs typeface="Segoe UI"/>
              </a:defRPr>
            </a:defPPr>
          </a:lstStyle>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Xác thực và phân quyền</a:t>
            </a:r>
          </a:p>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Kiểm tra dữ liệu đầu vào</a:t>
            </a:r>
          </a:p>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Truy cập cơ sở dữ liệu</a:t>
            </a:r>
          </a:p>
        </p:txBody>
      </p:sp>
      <p:sp>
        <p:nvSpPr>
          <p:cNvPr id="7" name="">
            <a:extLst xmlns:a="http://schemas.openxmlformats.org/drawingml/2006/main">
              <a:ext uri="{FF2B5EF4-FFF2-40B4-BE49-F238E27FC236}">
                <a16:creationId xmlns:a16="http://schemas.microsoft.com/office/drawing/2014/main" id="{BF7EA9B1-1299-4531-B3D3-8D4CC6E5CF66}"/>
              </a:ext>
            </a:extLst>
          </p:cNvPr>
          <p:cNvSpPr>
            <a:spLocks xmlns:a="http://schemas.openxmlformats.org/drawingml/2006/main" noGrp="1"/>
          </p:cNvSpPr>
          <p:nvPr/>
        </p:nvSpPr>
        <p:spPr>
          <a:xfrm xmlns:a="http://schemas.openxmlformats.org/drawingml/2006/main">
            <a:off x="704850" y="5476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60766E"/>
                </a:solidFill>
                <a:latin typeface="Segoe UI"/>
                <a:ea typeface="Segoe UI"/>
                <a:cs typeface="Segoe UI"/>
              </a:defRPr>
            </a:defPPr>
          </a:lstStyle>
          <a:p xmlns:a="http://schemas.openxmlformats.org/drawingml/2006/main">
            <a:pPr>
              <a:defRPr sz="2025" b="0">
                <a:solidFill>
                  <a:srgbClr val="60766E"/>
                </a:solidFill>
                <a:latin typeface="Segoe UI"/>
                <a:ea typeface="Segoe UI"/>
                <a:cs typeface="Segoe UI"/>
              </a:defRPr>
            </a:pPr>
            <a:r>
              <a:rPr sz="2025" b="0">
                <a:solidFill>
                  <a:srgbClr val="60766E"/>
                </a:solidFill>
                <a:latin typeface="Segoe UI"/>
                <a:ea typeface="Segoe UI"/>
                <a:cs typeface="Segoe UI"/>
              </a:rPr>
              <a:t>REST API dùng chung quyền truy cập với ứng dụng MVC.</a:t>
            </a:r>
          </a:p>
        </p:txBody>
      </p:sp>
    </p:spTree>
    <p:extLst>
      <p:ext uri="{BB962C8B-B14F-4D97-AF65-F5344CB8AC3E}">
        <p14:creationId xmlns:p14="http://schemas.microsoft.com/office/powerpoint/2010/main" val="427037526"/>
      </p:ext>
    </p:extLst>
  </p:cSld>
</p:sld>
</file>

<file path=ppt/slides/slide4.xml><?xml version="1.0" encoding="utf-8"?>
<p:sld xmlns:p="http://schemas.openxmlformats.org/presentationml/2006/main">
  <p:cSld>
    <p:bg>
      <p:bgPr>
        <a:solidFill xmlns:a="http://schemas.openxmlformats.org/drawingml/2006/main">
          <a:srgbClr val="F6F9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D7664B3-18BE-46A1-B599-48C3B1BE0B78}"/>
              </a:ext>
            </a:extLst>
          </p:cNvPr>
          <p:cNvSpPr>
            <a:spLocks xmlns:a="http://schemas.openxmlformats.org/drawingml/2006/main" noGrp="1"/>
          </p:cNvSpPr>
          <p:nvPr/>
        </p:nvSpPr>
        <p:spPr>
          <a:xfrm xmlns:a="http://schemas.openxmlformats.org/drawingml/2006/main">
            <a:off x="666750" y="4762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831"/>
                </a:solidFill>
                <a:latin typeface="Segoe UI"/>
                <a:ea typeface="Segoe UI"/>
                <a:cs typeface="Segoe UI"/>
              </a:defRPr>
            </a:defPPr>
          </a:lstStyle>
          <a:p xmlns:a="http://schemas.openxmlformats.org/drawingml/2006/main">
            <a:pPr>
              <a:defRPr sz="3300" b="1">
                <a:solidFill>
                  <a:srgbClr val="183831"/>
                </a:solidFill>
                <a:latin typeface="Segoe UI"/>
                <a:ea typeface="Segoe UI"/>
                <a:cs typeface="Segoe UI"/>
              </a:defRPr>
            </a:pPr>
            <a:r>
              <a:rPr sz="3300" b="1">
                <a:solidFill>
                  <a:srgbClr val="183831"/>
                </a:solidFill>
                <a:latin typeface="Segoe UI"/>
                <a:ea typeface="Segoe UI"/>
                <a:cs typeface="Segoe UI"/>
              </a:rPr>
              <a:t>Thiết kế dữ liệu</a:t>
            </a:r>
          </a:p>
        </p:txBody>
      </p:sp>
      <p:sp>
        <p:nvSpPr>
          <p:cNvPr id="2" name="">
            <a:extLst xmlns:a="http://schemas.openxmlformats.org/drawingml/2006/main">
              <a:ext uri="{FF2B5EF4-FFF2-40B4-BE49-F238E27FC236}">
                <a16:creationId xmlns:a16="http://schemas.microsoft.com/office/drawing/2014/main" id="{124B1E46-FC67-4430-8CAC-41CB687D9E20}"/>
              </a:ext>
            </a:extLst>
          </p:cNvPr>
          <p:cNvSpPr>
            <a:spLocks xmlns:a="http://schemas.openxmlformats.org/drawingml/2006/main" noGrp="1"/>
          </p:cNvSpPr>
          <p:nvPr/>
        </p:nvSpPr>
        <p:spPr>
          <a:xfrm xmlns:a="http://schemas.openxmlformats.org/drawingml/2006/main">
            <a:off x="1114425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66E"/>
                </a:solidFill>
                <a:latin typeface="Segoe UI"/>
                <a:ea typeface="Segoe UI"/>
                <a:cs typeface="Segoe UI"/>
              </a:defRPr>
            </a:defPPr>
          </a:lstStyle>
          <a:p xmlns:a="http://schemas.openxmlformats.org/drawingml/2006/main">
            <a:pPr>
              <a:defRPr sz="1200" b="0">
                <a:solidFill>
                  <a:srgbClr val="60766E"/>
                </a:solidFill>
                <a:latin typeface="Segoe UI"/>
                <a:ea typeface="Segoe UI"/>
                <a:cs typeface="Segoe UI"/>
              </a:defRPr>
            </a:pPr>
            <a:r>
              <a:rPr sz="1200" b="0">
                <a:solidFill>
                  <a:srgbClr val="60766E"/>
                </a:solidFill>
                <a:latin typeface="Segoe UI"/>
                <a:ea typeface="Segoe UI"/>
                <a:cs typeface="Segoe UI"/>
              </a:rPr>
              <a:t>04</a:t>
            </a:r>
          </a:p>
        </p:txBody>
      </p:sp>
      <p:sp>
        <p:nvSpPr>
          <p:cNvPr id="3" name="">
            <a:extLst xmlns:a="http://schemas.openxmlformats.org/drawingml/2006/main">
              <a:ext uri="{FF2B5EF4-FFF2-40B4-BE49-F238E27FC236}">
                <a16:creationId xmlns:a16="http://schemas.microsoft.com/office/drawing/2014/main" id="{E3CA8CA0-1037-4355-8CA6-C53A38CB7549}"/>
              </a:ext>
            </a:extLst>
          </p:cNvPr>
          <p:cNvSpPr>
            <a:spLocks xmlns:a="http://schemas.openxmlformats.org/drawingml/2006/main" noGrp="1"/>
          </p:cNvSpPr>
          <p:nvPr/>
        </p:nvSpPr>
        <p:spPr>
          <a:xfrm xmlns:a="http://schemas.openxmlformats.org/drawingml/2006/main">
            <a:off x="704850" y="1905000"/>
            <a:ext cx="3286125" cy="2571750"/>
          </a:xfrm>
          <a:prstGeom xmlns:a="http://schemas.openxmlformats.org/drawingml/2006/main" prst="rect">
            <a:avLst/>
          </a:prstGeom>
          <a:solidFill xmlns:a="http://schemas.openxmlformats.org/drawingml/2006/main">
            <a:srgbClr val="E8F1EB"/>
          </a:solidFill>
          <a:ln xmlns:a="http://schemas.openxmlformats.org/drawingml/2006/main" w="9525">
            <a:solidFill>
              <a:srgbClr val="90AB9A"/>
            </a:solidFill>
          </a:ln>
        </p:spPr>
      </p:sp>
      <p:sp>
        <p:nvSpPr>
          <p:cNvPr id="4" name="">
            <a:extLst xmlns:a="http://schemas.openxmlformats.org/drawingml/2006/main">
              <a:ext uri="{FF2B5EF4-FFF2-40B4-BE49-F238E27FC236}">
                <a16:creationId xmlns:a16="http://schemas.microsoft.com/office/drawing/2014/main" id="{1291ED1C-A8DF-48BC-BF79-41FBE270C0C5}"/>
              </a:ext>
            </a:extLst>
          </p:cNvPr>
          <p:cNvSpPr>
            <a:spLocks xmlns:a="http://schemas.openxmlformats.org/drawingml/2006/main" noGrp="1"/>
          </p:cNvSpPr>
          <p:nvPr/>
        </p:nvSpPr>
        <p:spPr>
          <a:xfrm xmlns:a="http://schemas.openxmlformats.org/drawingml/2006/main">
            <a:off x="914400" y="2143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6765F"/>
                </a:solidFill>
                <a:latin typeface="Segoe UI"/>
                <a:ea typeface="Segoe UI"/>
                <a:cs typeface="Segoe UI"/>
              </a:defRPr>
            </a:defPPr>
          </a:lstStyle>
          <a:p xmlns:a="http://schemas.openxmlformats.org/drawingml/2006/main">
            <a:pPr>
              <a:defRPr sz="2325" b="1">
                <a:solidFill>
                  <a:srgbClr val="16765F"/>
                </a:solidFill>
                <a:latin typeface="Segoe UI"/>
                <a:ea typeface="Segoe UI"/>
                <a:cs typeface="Segoe UI"/>
              </a:defRPr>
            </a:pPr>
            <a:r>
              <a:rPr sz="2325" b="1">
                <a:solidFill>
                  <a:srgbClr val="16765F"/>
                </a:solidFill>
                <a:latin typeface="Segoe UI"/>
                <a:ea typeface="Segoe UI"/>
                <a:cs typeface="Segoe UI"/>
              </a:rPr>
              <a:t>Customers</a:t>
            </a:r>
          </a:p>
        </p:txBody>
      </p:sp>
      <p:sp>
        <p:nvSpPr>
          <p:cNvPr id="5" name="">
            <a:extLst xmlns:a="http://schemas.openxmlformats.org/drawingml/2006/main">
              <a:ext uri="{FF2B5EF4-FFF2-40B4-BE49-F238E27FC236}">
                <a16:creationId xmlns:a16="http://schemas.microsoft.com/office/drawing/2014/main" id="{D5BE55A8-3CF4-40CE-BFAA-6DD57E93E0EA}"/>
              </a:ext>
            </a:extLst>
          </p:cNvPr>
          <p:cNvSpPr>
            <a:spLocks xmlns:a="http://schemas.openxmlformats.org/drawingml/2006/main" noGrp="1"/>
          </p:cNvSpPr>
          <p:nvPr/>
        </p:nvSpPr>
        <p:spPr>
          <a:xfrm xmlns:a="http://schemas.openxmlformats.org/drawingml/2006/main">
            <a:off x="914400" y="2905125"/>
            <a:ext cx="285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3831"/>
                </a:solidFill>
                <a:latin typeface="Segoe UI"/>
                <a:ea typeface="Segoe UI"/>
                <a:cs typeface="Segoe UI"/>
              </a:defRPr>
            </a:defPPr>
          </a:lstStyle>
          <a:p xmlns:a="http://schemas.openxmlformats.org/drawingml/2006/main">
            <a:pPr>
              <a:defRPr sz="1800" b="0">
                <a:solidFill>
                  <a:srgbClr val="183831"/>
                </a:solidFill>
                <a:latin typeface="Segoe UI"/>
                <a:ea typeface="Segoe UI"/>
                <a:cs typeface="Segoe UI"/>
              </a:defRPr>
            </a:pPr>
            <a:r>
              <a:rPr sz="1800" b="0">
                <a:solidFill>
                  <a:srgbClr val="183831"/>
                </a:solidFill>
                <a:latin typeface="Segoe UI"/>
                <a:ea typeface="Segoe UI"/>
                <a:cs typeface="Segoe UI"/>
              </a:rPr>
              <a:t>CustomerID, FullName</a:t>
            </a:r>
          </a:p>
          <a:p xmlns:a="http://schemas.openxmlformats.org/drawingml/2006/main">
            <a:pPr>
              <a:defRPr sz="1800" b="0">
                <a:solidFill>
                  <a:srgbClr val="183831"/>
                </a:solidFill>
                <a:latin typeface="Segoe UI"/>
                <a:ea typeface="Segoe UI"/>
                <a:cs typeface="Segoe UI"/>
              </a:defRPr>
            </a:pPr>
            <a:r>
              <a:rPr sz="1800" b="0">
                <a:solidFill>
                  <a:srgbClr val="183831"/>
                </a:solidFill>
                <a:latin typeface="Segoe UI"/>
                <a:ea typeface="Segoe UI"/>
                <a:cs typeface="Segoe UI"/>
              </a:rPr>
              <a:t>IdentityCard, Phone</a:t>
            </a:r>
          </a:p>
          <a:p xmlns:a="http://schemas.openxmlformats.org/drawingml/2006/main">
            <a:pPr>
              <a:defRPr sz="1800" b="0">
                <a:solidFill>
                  <a:srgbClr val="183831"/>
                </a:solidFill>
                <a:latin typeface="Segoe UI"/>
                <a:ea typeface="Segoe UI"/>
                <a:cs typeface="Segoe UI"/>
              </a:defRPr>
            </a:pPr>
            <a:r>
              <a:rPr sz="1800" b="0">
                <a:solidFill>
                  <a:srgbClr val="183831"/>
                </a:solidFill>
                <a:latin typeface="Segoe UI"/>
                <a:ea typeface="Segoe UI"/>
                <a:cs typeface="Segoe UI"/>
              </a:rPr>
              <a:t>Address</a:t>
            </a:r>
          </a:p>
        </p:txBody>
      </p:sp>
      <p:sp>
        <p:nvSpPr>
          <p:cNvPr id="6" name="">
            <a:extLst xmlns:a="http://schemas.openxmlformats.org/drawingml/2006/main">
              <a:ext uri="{FF2B5EF4-FFF2-40B4-BE49-F238E27FC236}">
                <a16:creationId xmlns:a16="http://schemas.microsoft.com/office/drawing/2014/main" id="{460766BB-C394-4906-9E9E-5304B73E0A66}"/>
              </a:ext>
            </a:extLst>
          </p:cNvPr>
          <p:cNvSpPr>
            <a:spLocks xmlns:a="http://schemas.openxmlformats.org/drawingml/2006/main" noGrp="1"/>
          </p:cNvSpPr>
          <p:nvPr/>
        </p:nvSpPr>
        <p:spPr>
          <a:xfrm xmlns:a="http://schemas.openxmlformats.org/drawingml/2006/main">
            <a:off x="4438650" y="1905000"/>
            <a:ext cx="3286125" cy="2571750"/>
          </a:xfrm>
          <a:prstGeom xmlns:a="http://schemas.openxmlformats.org/drawingml/2006/main" prst="rect">
            <a:avLst/>
          </a:prstGeom>
          <a:solidFill xmlns:a="http://schemas.openxmlformats.org/drawingml/2006/main">
            <a:srgbClr val="E8F1EB"/>
          </a:solidFill>
          <a:ln xmlns:a="http://schemas.openxmlformats.org/drawingml/2006/main" w="9525">
            <a:solidFill>
              <a:srgbClr val="90AB9A"/>
            </a:solidFill>
          </a:ln>
        </p:spPr>
      </p:sp>
      <p:sp>
        <p:nvSpPr>
          <p:cNvPr id="7" name="">
            <a:extLst xmlns:a="http://schemas.openxmlformats.org/drawingml/2006/main">
              <a:ext uri="{FF2B5EF4-FFF2-40B4-BE49-F238E27FC236}">
                <a16:creationId xmlns:a16="http://schemas.microsoft.com/office/drawing/2014/main" id="{597C5F41-0DB2-4A81-B99F-4B13E2A8E3DF}"/>
              </a:ext>
            </a:extLst>
          </p:cNvPr>
          <p:cNvSpPr>
            <a:spLocks xmlns:a="http://schemas.openxmlformats.org/drawingml/2006/main" noGrp="1"/>
          </p:cNvSpPr>
          <p:nvPr/>
        </p:nvSpPr>
        <p:spPr>
          <a:xfrm xmlns:a="http://schemas.openxmlformats.org/drawingml/2006/main">
            <a:off x="4648200" y="2143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6765F"/>
                </a:solidFill>
                <a:latin typeface="Segoe UI"/>
                <a:ea typeface="Segoe UI"/>
                <a:cs typeface="Segoe UI"/>
              </a:defRPr>
            </a:defPPr>
          </a:lstStyle>
          <a:p xmlns:a="http://schemas.openxmlformats.org/drawingml/2006/main">
            <a:pPr>
              <a:defRPr sz="2325" b="1">
                <a:solidFill>
                  <a:srgbClr val="16765F"/>
                </a:solidFill>
                <a:latin typeface="Segoe UI"/>
                <a:ea typeface="Segoe UI"/>
                <a:cs typeface="Segoe UI"/>
              </a:defRPr>
            </a:pPr>
            <a:r>
              <a:rPr sz="2325" b="1">
                <a:solidFill>
                  <a:srgbClr val="16765F"/>
                </a:solidFill>
                <a:latin typeface="Segoe UI"/>
                <a:ea typeface="Segoe UI"/>
                <a:cs typeface="Segoe UI"/>
              </a:rPr>
              <a:t>PawnContracts</a:t>
            </a:r>
          </a:p>
        </p:txBody>
      </p:sp>
      <p:sp>
        <p:nvSpPr>
          <p:cNvPr id="8" name="">
            <a:extLst xmlns:a="http://schemas.openxmlformats.org/drawingml/2006/main">
              <a:ext uri="{FF2B5EF4-FFF2-40B4-BE49-F238E27FC236}">
                <a16:creationId xmlns:a16="http://schemas.microsoft.com/office/drawing/2014/main" id="{496E4AFE-E0D2-462F-BB07-136D6EB1AD9E}"/>
              </a:ext>
            </a:extLst>
          </p:cNvPr>
          <p:cNvSpPr>
            <a:spLocks xmlns:a="http://schemas.openxmlformats.org/drawingml/2006/main" noGrp="1"/>
          </p:cNvSpPr>
          <p:nvPr/>
        </p:nvSpPr>
        <p:spPr>
          <a:xfrm xmlns:a="http://schemas.openxmlformats.org/drawingml/2006/main">
            <a:off x="4648200" y="2905125"/>
            <a:ext cx="285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3831"/>
                </a:solidFill>
                <a:latin typeface="Segoe UI"/>
                <a:ea typeface="Segoe UI"/>
                <a:cs typeface="Segoe UI"/>
              </a:defRPr>
            </a:defPPr>
          </a:lstStyle>
          <a:p xmlns:a="http://schemas.openxmlformats.org/drawingml/2006/main">
            <a:pPr>
              <a:defRPr sz="1800" b="0">
                <a:solidFill>
                  <a:srgbClr val="183831"/>
                </a:solidFill>
                <a:latin typeface="Segoe UI"/>
                <a:ea typeface="Segoe UI"/>
                <a:cs typeface="Segoe UI"/>
              </a:defRPr>
            </a:pPr>
            <a:r>
              <a:rPr sz="1800" b="0">
                <a:solidFill>
                  <a:srgbClr val="183831"/>
                </a:solidFill>
                <a:latin typeface="Segoe UI"/>
                <a:ea typeface="Segoe UI"/>
                <a:cs typeface="Segoe UI"/>
              </a:rPr>
              <a:t>ContractID, CustomerID</a:t>
            </a:r>
          </a:p>
          <a:p xmlns:a="http://schemas.openxmlformats.org/drawingml/2006/main">
            <a:pPr>
              <a:defRPr sz="1800" b="0">
                <a:solidFill>
                  <a:srgbClr val="183831"/>
                </a:solidFill>
                <a:latin typeface="Segoe UI"/>
                <a:ea typeface="Segoe UI"/>
                <a:cs typeface="Segoe UI"/>
              </a:defRPr>
            </a:pPr>
            <a:r>
              <a:rPr sz="1800" b="0">
                <a:solidFill>
                  <a:srgbClr val="183831"/>
                </a:solidFill>
                <a:latin typeface="Segoe UI"/>
                <a:ea typeface="Segoe UI"/>
                <a:cs typeface="Segoe UI"/>
              </a:rPr>
              <a:t>AssetName, LoanAmount</a:t>
            </a:r>
          </a:p>
          <a:p xmlns:a="http://schemas.openxmlformats.org/drawingml/2006/main">
            <a:pPr>
              <a:defRPr sz="1800" b="0">
                <a:solidFill>
                  <a:srgbClr val="183831"/>
                </a:solidFill>
                <a:latin typeface="Segoe UI"/>
                <a:ea typeface="Segoe UI"/>
                <a:cs typeface="Segoe UI"/>
              </a:defRPr>
            </a:pPr>
            <a:r>
              <a:rPr sz="1800" b="0">
                <a:solidFill>
                  <a:srgbClr val="183831"/>
                </a:solidFill>
                <a:latin typeface="Segoe UI"/>
                <a:ea typeface="Segoe UI"/>
                <a:cs typeface="Segoe UI"/>
              </a:rPr>
              <a:t>InterestRate, Status</a:t>
            </a:r>
          </a:p>
        </p:txBody>
      </p:sp>
      <p:sp>
        <p:nvSpPr>
          <p:cNvPr id="9" name="">
            <a:extLst xmlns:a="http://schemas.openxmlformats.org/drawingml/2006/main">
              <a:ext uri="{FF2B5EF4-FFF2-40B4-BE49-F238E27FC236}">
                <a16:creationId xmlns:a16="http://schemas.microsoft.com/office/drawing/2014/main" id="{82B28DA5-887A-4127-A8AB-3849F86723C6}"/>
              </a:ext>
            </a:extLst>
          </p:cNvPr>
          <p:cNvSpPr>
            <a:spLocks xmlns:a="http://schemas.openxmlformats.org/drawingml/2006/main" noGrp="1"/>
          </p:cNvSpPr>
          <p:nvPr/>
        </p:nvSpPr>
        <p:spPr>
          <a:xfrm xmlns:a="http://schemas.openxmlformats.org/drawingml/2006/main">
            <a:off x="8172450" y="1905000"/>
            <a:ext cx="3286125" cy="2571750"/>
          </a:xfrm>
          <a:prstGeom xmlns:a="http://schemas.openxmlformats.org/drawingml/2006/main" prst="rect">
            <a:avLst/>
          </a:prstGeom>
          <a:solidFill xmlns:a="http://schemas.openxmlformats.org/drawingml/2006/main">
            <a:srgbClr val="E8F1EB"/>
          </a:solidFill>
          <a:ln xmlns:a="http://schemas.openxmlformats.org/drawingml/2006/main" w="9525">
            <a:solidFill>
              <a:srgbClr val="90AB9A"/>
            </a:solidFill>
          </a:ln>
        </p:spPr>
      </p:sp>
      <p:sp>
        <p:nvSpPr>
          <p:cNvPr id="10" name="">
            <a:extLst xmlns:a="http://schemas.openxmlformats.org/drawingml/2006/main">
              <a:ext uri="{FF2B5EF4-FFF2-40B4-BE49-F238E27FC236}">
                <a16:creationId xmlns:a16="http://schemas.microsoft.com/office/drawing/2014/main" id="{BF60BA9D-0149-4A98-BE4F-036E51B9DBDE}"/>
              </a:ext>
            </a:extLst>
          </p:cNvPr>
          <p:cNvSpPr>
            <a:spLocks xmlns:a="http://schemas.openxmlformats.org/drawingml/2006/main" noGrp="1"/>
          </p:cNvSpPr>
          <p:nvPr/>
        </p:nvSpPr>
        <p:spPr>
          <a:xfrm xmlns:a="http://schemas.openxmlformats.org/drawingml/2006/main">
            <a:off x="8382000" y="2143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6765F"/>
                </a:solidFill>
                <a:latin typeface="Segoe UI"/>
                <a:ea typeface="Segoe UI"/>
                <a:cs typeface="Segoe UI"/>
              </a:defRPr>
            </a:defPPr>
          </a:lstStyle>
          <a:p xmlns:a="http://schemas.openxmlformats.org/drawingml/2006/main">
            <a:pPr>
              <a:defRPr sz="2325" b="1">
                <a:solidFill>
                  <a:srgbClr val="16765F"/>
                </a:solidFill>
                <a:latin typeface="Segoe UI"/>
                <a:ea typeface="Segoe UI"/>
                <a:cs typeface="Segoe UI"/>
              </a:defRPr>
            </a:pPr>
            <a:r>
              <a:rPr sz="2325" b="1">
                <a:solidFill>
                  <a:srgbClr val="16765F"/>
                </a:solidFill>
                <a:latin typeface="Segoe UI"/>
                <a:ea typeface="Segoe UI"/>
                <a:cs typeface="Segoe UI"/>
              </a:rPr>
              <a:t>AppUsers</a:t>
            </a:r>
          </a:p>
        </p:txBody>
      </p:sp>
      <p:sp>
        <p:nvSpPr>
          <p:cNvPr id="11" name="">
            <a:extLst xmlns:a="http://schemas.openxmlformats.org/drawingml/2006/main">
              <a:ext uri="{FF2B5EF4-FFF2-40B4-BE49-F238E27FC236}">
                <a16:creationId xmlns:a16="http://schemas.microsoft.com/office/drawing/2014/main" id="{75EF3A6C-99E2-4DD6-9553-FF0ABE07E31F}"/>
              </a:ext>
            </a:extLst>
          </p:cNvPr>
          <p:cNvSpPr>
            <a:spLocks xmlns:a="http://schemas.openxmlformats.org/drawingml/2006/main" noGrp="1"/>
          </p:cNvSpPr>
          <p:nvPr/>
        </p:nvSpPr>
        <p:spPr>
          <a:xfrm xmlns:a="http://schemas.openxmlformats.org/drawingml/2006/main">
            <a:off x="8382000" y="2905125"/>
            <a:ext cx="285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3831"/>
                </a:solidFill>
                <a:latin typeface="Segoe UI"/>
                <a:ea typeface="Segoe UI"/>
                <a:cs typeface="Segoe UI"/>
              </a:defRPr>
            </a:defPPr>
          </a:lstStyle>
          <a:p xmlns:a="http://schemas.openxmlformats.org/drawingml/2006/main">
            <a:pPr>
              <a:defRPr sz="1800" b="0">
                <a:solidFill>
                  <a:srgbClr val="183831"/>
                </a:solidFill>
                <a:latin typeface="Segoe UI"/>
                <a:ea typeface="Segoe UI"/>
                <a:cs typeface="Segoe UI"/>
              </a:defRPr>
            </a:pPr>
            <a:r>
              <a:rPr sz="1800" b="0">
                <a:solidFill>
                  <a:srgbClr val="183831"/>
                </a:solidFill>
                <a:latin typeface="Segoe UI"/>
                <a:ea typeface="Segoe UI"/>
                <a:cs typeface="Segoe UI"/>
              </a:rPr>
              <a:t>Id, UserName</a:t>
            </a:r>
          </a:p>
          <a:p xmlns:a="http://schemas.openxmlformats.org/drawingml/2006/main">
            <a:pPr>
              <a:defRPr sz="1800" b="0">
                <a:solidFill>
                  <a:srgbClr val="183831"/>
                </a:solidFill>
                <a:latin typeface="Segoe UI"/>
                <a:ea typeface="Segoe UI"/>
                <a:cs typeface="Segoe UI"/>
              </a:defRPr>
            </a:pPr>
            <a:r>
              <a:rPr sz="1800" b="0">
                <a:solidFill>
                  <a:srgbClr val="183831"/>
                </a:solidFill>
                <a:latin typeface="Segoe UI"/>
                <a:ea typeface="Segoe UI"/>
                <a:cs typeface="Segoe UI"/>
              </a:rPr>
              <a:t>PasswordHash, Role</a:t>
            </a:r>
          </a:p>
          <a:p xmlns:a="http://schemas.openxmlformats.org/drawingml/2006/main">
            <a:pPr>
              <a:defRPr sz="1800" b="0">
                <a:solidFill>
                  <a:srgbClr val="183831"/>
                </a:solidFill>
                <a:latin typeface="Segoe UI"/>
                <a:ea typeface="Segoe UI"/>
                <a:cs typeface="Segoe UI"/>
              </a:defRPr>
            </a:pPr>
            <a:r>
              <a:rPr sz="1800" b="0">
                <a:solidFill>
                  <a:srgbClr val="183831"/>
                </a:solidFill>
                <a:latin typeface="Segoe UI"/>
                <a:ea typeface="Segoe UI"/>
                <a:cs typeface="Segoe UI"/>
              </a:rPr>
              <a:t>LockoutUntil</a:t>
            </a:r>
          </a:p>
        </p:txBody>
      </p:sp>
      <p:sp>
        <p:nvSpPr>
          <p:cNvPr id="12" name="">
            <a:extLst xmlns:a="http://schemas.openxmlformats.org/drawingml/2006/main">
              <a:ext uri="{FF2B5EF4-FFF2-40B4-BE49-F238E27FC236}">
                <a16:creationId xmlns:a16="http://schemas.microsoft.com/office/drawing/2014/main" id="{D55BAC32-4485-438D-AC62-EBDE1E242F08}"/>
              </a:ext>
            </a:extLst>
          </p:cNvPr>
          <p:cNvSpPr>
            <a:spLocks xmlns:a="http://schemas.openxmlformats.org/drawingml/2006/main" noGrp="1"/>
          </p:cNvSpPr>
          <p:nvPr/>
        </p:nvSpPr>
        <p:spPr>
          <a:xfrm xmlns:a="http://schemas.openxmlformats.org/drawingml/2006/main">
            <a:off x="704850" y="4905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83831"/>
                </a:solidFill>
                <a:latin typeface="Segoe UI"/>
                <a:ea typeface="Segoe UI"/>
                <a:cs typeface="Segoe UI"/>
              </a:defRPr>
            </a:defPPr>
          </a:lstStyle>
          <a:p xmlns:a="http://schemas.openxmlformats.org/drawingml/2006/main">
            <a:pPr>
              <a:defRPr sz="2175" b="1">
                <a:solidFill>
                  <a:srgbClr val="183831"/>
                </a:solidFill>
                <a:latin typeface="Segoe UI"/>
                <a:ea typeface="Segoe UI"/>
                <a:cs typeface="Segoe UI"/>
              </a:defRPr>
            </a:pPr>
            <a:r>
              <a:rPr sz="2175" b="1">
                <a:solidFill>
                  <a:srgbClr val="183831"/>
                </a:solidFill>
                <a:latin typeface="Segoe UI"/>
                <a:ea typeface="Segoe UI"/>
                <a:cs typeface="Segoe UI"/>
              </a:rPr>
              <a:t>Customers 1 : N PawnContracts</a:t>
            </a:r>
          </a:p>
        </p:txBody>
      </p:sp>
      <p:sp>
        <p:nvSpPr>
          <p:cNvPr id="13" name="">
            <a:extLst xmlns:a="http://schemas.openxmlformats.org/drawingml/2006/main">
              <a:ext uri="{FF2B5EF4-FFF2-40B4-BE49-F238E27FC236}">
                <a16:creationId xmlns:a16="http://schemas.microsoft.com/office/drawing/2014/main" id="{E8C57C97-EFAE-4986-BCE4-08EACD6E1970}"/>
              </a:ext>
            </a:extLst>
          </p:cNvPr>
          <p:cNvSpPr>
            <a:spLocks xmlns:a="http://schemas.openxmlformats.org/drawingml/2006/main" noGrp="1"/>
          </p:cNvSpPr>
          <p:nvPr/>
        </p:nvSpPr>
        <p:spPr>
          <a:xfrm xmlns:a="http://schemas.openxmlformats.org/drawingml/2006/main">
            <a:off x="704850" y="5572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60766E"/>
                </a:solidFill>
                <a:latin typeface="Segoe UI"/>
                <a:ea typeface="Segoe UI"/>
                <a:cs typeface="Segoe UI"/>
              </a:defRPr>
            </a:defPPr>
          </a:lstStyle>
          <a:p xmlns:a="http://schemas.openxmlformats.org/drawingml/2006/main">
            <a:pPr>
              <a:defRPr sz="1950" b="0">
                <a:solidFill>
                  <a:srgbClr val="60766E"/>
                </a:solidFill>
                <a:latin typeface="Segoe UI"/>
                <a:ea typeface="Segoe UI"/>
                <a:cs typeface="Segoe UI"/>
              </a:defRPr>
            </a:pPr>
            <a:r>
              <a:rPr sz="1950" b="0">
                <a:solidFill>
                  <a:srgbClr val="60766E"/>
                </a:solidFill>
                <a:latin typeface="Segoe UI"/>
                <a:ea typeface="Segoe UI"/>
                <a:cs typeface="Segoe UI"/>
              </a:rPr>
              <a:t>Khóa ngoại và CCCD duy nhất bảo vệ quan hệ dữ liệu.</a:t>
            </a:r>
          </a:p>
        </p:txBody>
      </p:sp>
    </p:spTree>
    <p:extLst>
      <p:ext uri="{BB962C8B-B14F-4D97-AF65-F5344CB8AC3E}">
        <p14:creationId xmlns:p14="http://schemas.microsoft.com/office/powerpoint/2010/main" val="1511246337"/>
      </p:ext>
    </p:extLst>
  </p:cSld>
</p:sld>
</file>

<file path=ppt/slides/slide5.xml><?xml version="1.0" encoding="utf-8"?>
<p:sld xmlns:p="http://schemas.openxmlformats.org/presentationml/2006/main">
  <p:cSld>
    <p:bg>
      <p:bgPr>
        <a:solidFill xmlns:a="http://schemas.openxmlformats.org/drawingml/2006/main">
          <a:srgbClr val="F6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91D2F2-C134-4E24-9BC6-762055B20214}"/>
              </a:ext>
            </a:extLst>
          </p:cNvPr>
          <p:cNvSpPr>
            <a:spLocks xmlns:a="http://schemas.openxmlformats.org/drawingml/2006/main" noGrp="1"/>
          </p:cNvSpPr>
          <p:nvPr/>
        </p:nvSpPr>
        <p:spPr>
          <a:xfrm xmlns:a="http://schemas.openxmlformats.org/drawingml/2006/main">
            <a:off x="666750" y="4762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831"/>
                </a:solidFill>
                <a:latin typeface="Segoe UI"/>
                <a:ea typeface="Segoe UI"/>
                <a:cs typeface="Segoe UI"/>
              </a:defRPr>
            </a:defPPr>
          </a:lstStyle>
          <a:p xmlns:a="http://schemas.openxmlformats.org/drawingml/2006/main">
            <a:pPr>
              <a:defRPr sz="3300" b="1">
                <a:solidFill>
                  <a:srgbClr val="183831"/>
                </a:solidFill>
                <a:latin typeface="Segoe UI"/>
                <a:ea typeface="Segoe UI"/>
                <a:cs typeface="Segoe UI"/>
              </a:defRPr>
            </a:pPr>
            <a:r>
              <a:rPr sz="3300" b="1">
                <a:solidFill>
                  <a:srgbClr val="183831"/>
                </a:solidFill>
                <a:latin typeface="Segoe UI"/>
                <a:ea typeface="Segoe UI"/>
                <a:cs typeface="Segoe UI"/>
              </a:rPr>
              <a:t>Bảo mật và quốc tế hóa</a:t>
            </a:r>
          </a:p>
        </p:txBody>
      </p:sp>
      <p:sp>
        <p:nvSpPr>
          <p:cNvPr id="2" name="">
            <a:extLst xmlns:a="http://schemas.openxmlformats.org/drawingml/2006/main">
              <a:ext uri="{FF2B5EF4-FFF2-40B4-BE49-F238E27FC236}">
                <a16:creationId xmlns:a16="http://schemas.microsoft.com/office/drawing/2014/main" id="{AFD3565D-A7C0-4E6B-9CC6-A6FD8C2DCBD7}"/>
              </a:ext>
            </a:extLst>
          </p:cNvPr>
          <p:cNvSpPr>
            <a:spLocks xmlns:a="http://schemas.openxmlformats.org/drawingml/2006/main" noGrp="1"/>
          </p:cNvSpPr>
          <p:nvPr/>
        </p:nvSpPr>
        <p:spPr>
          <a:xfrm xmlns:a="http://schemas.openxmlformats.org/drawingml/2006/main">
            <a:off x="1114425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66E"/>
                </a:solidFill>
                <a:latin typeface="Segoe UI"/>
                <a:ea typeface="Segoe UI"/>
                <a:cs typeface="Segoe UI"/>
              </a:defRPr>
            </a:defPPr>
          </a:lstStyle>
          <a:p xmlns:a="http://schemas.openxmlformats.org/drawingml/2006/main">
            <a:pPr>
              <a:defRPr sz="1200" b="0">
                <a:solidFill>
                  <a:srgbClr val="60766E"/>
                </a:solidFill>
                <a:latin typeface="Segoe UI"/>
                <a:ea typeface="Segoe UI"/>
                <a:cs typeface="Segoe UI"/>
              </a:defRPr>
            </a:pPr>
            <a:r>
              <a:rPr sz="1200" b="0">
                <a:solidFill>
                  <a:srgbClr val="60766E"/>
                </a:solidFill>
                <a:latin typeface="Segoe UI"/>
                <a:ea typeface="Segoe UI"/>
                <a:cs typeface="Segoe UI"/>
              </a:rPr>
              <a:t>05</a:t>
            </a:r>
          </a:p>
        </p:txBody>
      </p:sp>
      <p:sp>
        <p:nvSpPr>
          <p:cNvPr id="3" name="">
            <a:extLst xmlns:a="http://schemas.openxmlformats.org/drawingml/2006/main">
              <a:ext uri="{FF2B5EF4-FFF2-40B4-BE49-F238E27FC236}">
                <a16:creationId xmlns:a16="http://schemas.microsoft.com/office/drawing/2014/main" id="{88C35A9A-9598-452C-877B-4DEE6F4D1421}"/>
              </a:ext>
            </a:extLst>
          </p:cNvPr>
          <p:cNvSpPr>
            <a:spLocks xmlns:a="http://schemas.openxmlformats.org/drawingml/2006/main" noGrp="1"/>
          </p:cNvSpPr>
          <p:nvPr/>
        </p:nvSpPr>
        <p:spPr>
          <a:xfrm xmlns:a="http://schemas.openxmlformats.org/drawingml/2006/main">
            <a:off x="704850" y="1762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6765F"/>
                </a:solidFill>
                <a:latin typeface="Segoe UI"/>
                <a:ea typeface="Segoe UI"/>
                <a:cs typeface="Segoe UI"/>
              </a:defRPr>
            </a:defPPr>
          </a:lstStyle>
          <a:p xmlns:a="http://schemas.openxmlformats.org/drawingml/2006/main">
            <a:pPr>
              <a:defRPr sz="2550" b="1">
                <a:solidFill>
                  <a:srgbClr val="16765F"/>
                </a:solidFill>
                <a:latin typeface="Segoe UI"/>
                <a:ea typeface="Segoe UI"/>
                <a:cs typeface="Segoe UI"/>
              </a:defRPr>
            </a:pPr>
            <a:r>
              <a:rPr sz="2550" b="1">
                <a:solidFill>
                  <a:srgbClr val="16765F"/>
                </a:solidFill>
                <a:latin typeface="Segoe UI"/>
                <a:ea typeface="Segoe UI"/>
                <a:cs typeface="Segoe UI"/>
              </a:rPr>
              <a:t>Kiểm soát truy cập</a:t>
            </a:r>
          </a:p>
        </p:txBody>
      </p:sp>
      <p:sp>
        <p:nvSpPr>
          <p:cNvPr id="4" name="">
            <a:extLst xmlns:a="http://schemas.openxmlformats.org/drawingml/2006/main">
              <a:ext uri="{FF2B5EF4-FFF2-40B4-BE49-F238E27FC236}">
                <a16:creationId xmlns:a16="http://schemas.microsoft.com/office/drawing/2014/main" id="{F6CF5EE6-D905-4257-9797-E23CEC3F2AB0}"/>
              </a:ext>
            </a:extLst>
          </p:cNvPr>
          <p:cNvSpPr>
            <a:spLocks xmlns:a="http://schemas.openxmlformats.org/drawingml/2006/main" noGrp="1"/>
          </p:cNvSpPr>
          <p:nvPr/>
        </p:nvSpPr>
        <p:spPr>
          <a:xfrm xmlns:a="http://schemas.openxmlformats.org/drawingml/2006/main">
            <a:off x="704850" y="2619375"/>
            <a:ext cx="4953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3831"/>
                </a:solidFill>
                <a:latin typeface="Segoe UI"/>
                <a:ea typeface="Segoe UI"/>
                <a:cs typeface="Segoe UI"/>
              </a:defRPr>
            </a:defPPr>
          </a:lstStyle>
          <a:p xmlns:a="http://schemas.openxmlformats.org/drawingml/2006/main">
            <a:pPr>
              <a:defRPr sz="2100" b="0">
                <a:solidFill>
                  <a:srgbClr val="183831"/>
                </a:solidFill>
                <a:latin typeface="Segoe UI"/>
                <a:ea typeface="Segoe UI"/>
                <a:cs typeface="Segoe UI"/>
              </a:defRPr>
            </a:pPr>
            <a:r>
              <a:rPr sz="2100" b="0">
                <a:solidFill>
                  <a:srgbClr val="183831"/>
                </a:solidFill>
                <a:latin typeface="Segoe UI"/>
                <a:ea typeface="Segoe UI"/>
                <a:cs typeface="Segoe UI"/>
              </a:rPr>
              <a:t>Cookie và vai trò Admin / Staff</a:t>
            </a:r>
          </a:p>
          <a:p xmlns:a="http://schemas.openxmlformats.org/drawingml/2006/main">
            <a:pPr>
              <a:defRPr sz="2100" b="0">
                <a:solidFill>
                  <a:srgbClr val="183831"/>
                </a:solidFill>
                <a:latin typeface="Segoe UI"/>
                <a:ea typeface="Segoe UI"/>
                <a:cs typeface="Segoe UI"/>
              </a:defRPr>
            </a:pPr>
            <a:r>
              <a:rPr sz="2100" b="0">
                <a:solidFill>
                  <a:srgbClr val="183831"/>
                </a:solidFill>
                <a:latin typeface="Segoe UI"/>
                <a:ea typeface="Segoe UI"/>
                <a:cs typeface="Segoe UI"/>
              </a:rPr>
              <a:t>CSRF cho MVC và REST API</a:t>
            </a:r>
          </a:p>
          <a:p xmlns:a="http://schemas.openxmlformats.org/drawingml/2006/main">
            <a:pPr>
              <a:defRPr sz="2100" b="0">
                <a:solidFill>
                  <a:srgbClr val="183831"/>
                </a:solidFill>
                <a:latin typeface="Segoe UI"/>
                <a:ea typeface="Segoe UI"/>
                <a:cs typeface="Segoe UI"/>
              </a:defRPr>
            </a:pPr>
            <a:r>
              <a:rPr sz="2100" b="0">
                <a:solidFill>
                  <a:srgbClr val="183831"/>
                </a:solidFill>
                <a:latin typeface="Segoe UI"/>
                <a:ea typeface="Segoe UI"/>
                <a:cs typeface="Segoe UI"/>
              </a:rPr>
              <a:t>Mật khẩu hash và khóa tài khoản</a:t>
            </a:r>
          </a:p>
        </p:txBody>
      </p:sp>
      <p:sp>
        <p:nvSpPr>
          <p:cNvPr id="5" name="">
            <a:extLst xmlns:a="http://schemas.openxmlformats.org/drawingml/2006/main">
              <a:ext uri="{FF2B5EF4-FFF2-40B4-BE49-F238E27FC236}">
                <a16:creationId xmlns:a16="http://schemas.microsoft.com/office/drawing/2014/main" id="{732AD0AF-9C14-415F-AC71-58746E912CBF}"/>
              </a:ext>
            </a:extLst>
          </p:cNvPr>
          <p:cNvSpPr>
            <a:spLocks xmlns:a="http://schemas.openxmlformats.org/drawingml/2006/main" noGrp="1"/>
          </p:cNvSpPr>
          <p:nvPr/>
        </p:nvSpPr>
        <p:spPr>
          <a:xfrm xmlns:a="http://schemas.openxmlformats.org/drawingml/2006/main">
            <a:off x="6572250" y="17621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6765F"/>
                </a:solidFill>
                <a:latin typeface="Segoe UI"/>
                <a:ea typeface="Segoe UI"/>
                <a:cs typeface="Segoe UI"/>
              </a:defRPr>
            </a:defPPr>
          </a:lstStyle>
          <a:p xmlns:a="http://schemas.openxmlformats.org/drawingml/2006/main">
            <a:pPr>
              <a:defRPr sz="2550" b="1">
                <a:solidFill>
                  <a:srgbClr val="16765F"/>
                </a:solidFill>
                <a:latin typeface="Segoe UI"/>
                <a:ea typeface="Segoe UI"/>
                <a:cs typeface="Segoe UI"/>
              </a:defRPr>
            </a:pPr>
            <a:r>
              <a:rPr sz="2550" b="1">
                <a:solidFill>
                  <a:srgbClr val="16765F"/>
                </a:solidFill>
                <a:latin typeface="Segoe UI"/>
                <a:ea typeface="Segoe UI"/>
                <a:cs typeface="Segoe UI"/>
              </a:rPr>
              <a:t>Việt và Anh</a:t>
            </a:r>
          </a:p>
        </p:txBody>
      </p:sp>
      <p:sp>
        <p:nvSpPr>
          <p:cNvPr id="6" name="">
            <a:extLst xmlns:a="http://schemas.openxmlformats.org/drawingml/2006/main">
              <a:ext uri="{FF2B5EF4-FFF2-40B4-BE49-F238E27FC236}">
                <a16:creationId xmlns:a16="http://schemas.microsoft.com/office/drawing/2014/main" id="{D89DC1B8-742A-4586-8E7C-A2FFE1070F05}"/>
              </a:ext>
            </a:extLst>
          </p:cNvPr>
          <p:cNvSpPr>
            <a:spLocks xmlns:a="http://schemas.openxmlformats.org/drawingml/2006/main" noGrp="1"/>
          </p:cNvSpPr>
          <p:nvPr/>
        </p:nvSpPr>
        <p:spPr>
          <a:xfrm xmlns:a="http://schemas.openxmlformats.org/drawingml/2006/main">
            <a:off x="6572250" y="2619375"/>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3831"/>
                </a:solidFill>
                <a:latin typeface="Segoe UI"/>
                <a:ea typeface="Segoe UI"/>
                <a:cs typeface="Segoe UI"/>
              </a:defRPr>
            </a:defPPr>
          </a:lstStyle>
          <a:p xmlns:a="http://schemas.openxmlformats.org/drawingml/2006/main">
            <a:pPr>
              <a:defRPr sz="2100" b="0">
                <a:solidFill>
                  <a:srgbClr val="183831"/>
                </a:solidFill>
                <a:latin typeface="Segoe UI"/>
                <a:ea typeface="Segoe UI"/>
                <a:cs typeface="Segoe UI"/>
              </a:defRPr>
            </a:pPr>
            <a:r>
              <a:rPr sz="2100" b="0">
                <a:solidFill>
                  <a:srgbClr val="183831"/>
                </a:solidFill>
                <a:latin typeface="Segoe UI"/>
                <a:ea typeface="Segoe UI"/>
                <a:cs typeface="Segoe UI"/>
              </a:rPr>
              <a:t>Nhãn và thông báo từ resource</a:t>
            </a:r>
          </a:p>
          <a:p xmlns:a="http://schemas.openxmlformats.org/drawingml/2006/main">
            <a:pPr>
              <a:defRPr sz="2100" b="0">
                <a:solidFill>
                  <a:srgbClr val="183831"/>
                </a:solidFill>
                <a:latin typeface="Segoe UI"/>
                <a:ea typeface="Segoe UI"/>
                <a:cs typeface="Segoe UI"/>
              </a:defRPr>
            </a:pPr>
            <a:r>
              <a:rPr sz="2100" b="0">
                <a:solidFill>
                  <a:srgbClr val="183831"/>
                </a:solidFill>
                <a:latin typeface="Segoe UI"/>
                <a:ea typeface="Segoe UI"/>
                <a:cs typeface="Segoe UI"/>
              </a:rPr>
              <a:t>Cookie ghi nhớ ngôn ngữ</a:t>
            </a:r>
          </a:p>
          <a:p xmlns:a="http://schemas.openxmlformats.org/drawingml/2006/main">
            <a:pPr>
              <a:defRPr sz="2100" b="0">
                <a:solidFill>
                  <a:srgbClr val="183831"/>
                </a:solidFill>
                <a:latin typeface="Segoe UI"/>
                <a:ea typeface="Segoe UI"/>
                <a:cs typeface="Segoe UI"/>
              </a:defRPr>
            </a:pPr>
            <a:r>
              <a:rPr sz="2100" b="0">
                <a:solidFill>
                  <a:srgbClr val="183831"/>
                </a:solidFill>
                <a:latin typeface="Segoe UI"/>
                <a:ea typeface="Segoe UI"/>
                <a:cs typeface="Segoe UI"/>
              </a:rPr>
              <a:t>Đọc số HTML theo invariant</a:t>
            </a:r>
          </a:p>
        </p:txBody>
      </p:sp>
      <p:sp>
        <p:nvSpPr>
          <p:cNvPr id="7" name="">
            <a:extLst xmlns:a="http://schemas.openxmlformats.org/drawingml/2006/main">
              <a:ext uri="{FF2B5EF4-FFF2-40B4-BE49-F238E27FC236}">
                <a16:creationId xmlns:a16="http://schemas.microsoft.com/office/drawing/2014/main" id="{037C2B46-7575-4D3C-978F-35FF96DCDF9A}"/>
              </a:ext>
            </a:extLst>
          </p:cNvPr>
          <p:cNvSpPr>
            <a:spLocks xmlns:a="http://schemas.openxmlformats.org/drawingml/2006/main" noGrp="1"/>
          </p:cNvSpPr>
          <p:nvPr/>
        </p:nvSpPr>
        <p:spPr>
          <a:xfrm xmlns:a="http://schemas.openxmlformats.org/drawingml/2006/main">
            <a:off x="704850" y="5524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60766E"/>
                </a:solidFill>
                <a:latin typeface="Segoe UI"/>
                <a:ea typeface="Segoe UI"/>
                <a:cs typeface="Segoe UI"/>
              </a:defRPr>
            </a:defPPr>
          </a:lstStyle>
          <a:p xmlns:a="http://schemas.openxmlformats.org/drawingml/2006/main">
            <a:pPr>
              <a:defRPr sz="1950" b="0">
                <a:solidFill>
                  <a:srgbClr val="60766E"/>
                </a:solidFill>
                <a:latin typeface="Segoe UI"/>
                <a:ea typeface="Segoe UI"/>
                <a:cs typeface="Segoe UI"/>
              </a:defRPr>
            </a:pPr>
            <a:r>
              <a:rPr sz="1950" b="0">
                <a:solidFill>
                  <a:srgbClr val="60766E"/>
                </a:solidFill>
                <a:latin typeface="Segoe UI"/>
                <a:ea typeface="Segoe UI"/>
                <a:cs typeface="Segoe UI"/>
              </a:rPr>
              <a:t>Lãi suất 1.5 phải lưu đúng giá trị dù giao diện dùng vi-VN.</a:t>
            </a:r>
          </a:p>
        </p:txBody>
      </p:sp>
    </p:spTree>
    <p:extLst>
      <p:ext uri="{BB962C8B-B14F-4D97-AF65-F5344CB8AC3E}">
        <p14:creationId xmlns:p14="http://schemas.microsoft.com/office/powerpoint/2010/main" val="1093414148"/>
      </p:ext>
    </p:extLst>
  </p:cSld>
</p:sld>
</file>

<file path=ppt/slides/slide6.xml><?xml version="1.0" encoding="utf-8"?>
<p:sld xmlns:p="http://schemas.openxmlformats.org/presentationml/2006/main">
  <p:cSld>
    <p:bg>
      <p:bgPr>
        <a:solidFill xmlns:a="http://schemas.openxmlformats.org/drawingml/2006/main">
          <a:srgbClr val="F6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36A5A2-9284-44F4-B1F8-425EFFA56383}"/>
              </a:ext>
            </a:extLst>
          </p:cNvPr>
          <p:cNvSpPr>
            <a:spLocks xmlns:a="http://schemas.openxmlformats.org/drawingml/2006/main" noGrp="1"/>
          </p:cNvSpPr>
          <p:nvPr/>
        </p:nvSpPr>
        <p:spPr>
          <a:xfrm xmlns:a="http://schemas.openxmlformats.org/drawingml/2006/main">
            <a:off x="666750" y="4762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831"/>
                </a:solidFill>
                <a:latin typeface="Segoe UI"/>
                <a:ea typeface="Segoe UI"/>
                <a:cs typeface="Segoe UI"/>
              </a:defRPr>
            </a:defPPr>
          </a:lstStyle>
          <a:p xmlns:a="http://schemas.openxmlformats.org/drawingml/2006/main">
            <a:pPr>
              <a:defRPr sz="3300" b="1">
                <a:solidFill>
                  <a:srgbClr val="183831"/>
                </a:solidFill>
                <a:latin typeface="Segoe UI"/>
                <a:ea typeface="Segoe UI"/>
                <a:cs typeface="Segoe UI"/>
              </a:defRPr>
            </a:pPr>
            <a:r>
              <a:rPr sz="3300" b="1">
                <a:solidFill>
                  <a:srgbClr val="183831"/>
                </a:solidFill>
                <a:latin typeface="Segoe UI"/>
                <a:ea typeface="Segoe UI"/>
                <a:cs typeface="Segoe UI"/>
              </a:rPr>
              <a:t>Kết quả kiểm thử</a:t>
            </a:r>
          </a:p>
        </p:txBody>
      </p:sp>
      <p:sp>
        <p:nvSpPr>
          <p:cNvPr id="2" name="">
            <a:extLst xmlns:a="http://schemas.openxmlformats.org/drawingml/2006/main">
              <a:ext uri="{FF2B5EF4-FFF2-40B4-BE49-F238E27FC236}">
                <a16:creationId xmlns:a16="http://schemas.microsoft.com/office/drawing/2014/main" id="{EB585BD2-B0C5-4C32-B992-A7FD09DEBECA}"/>
              </a:ext>
            </a:extLst>
          </p:cNvPr>
          <p:cNvSpPr>
            <a:spLocks xmlns:a="http://schemas.openxmlformats.org/drawingml/2006/main" noGrp="1"/>
          </p:cNvSpPr>
          <p:nvPr/>
        </p:nvSpPr>
        <p:spPr>
          <a:xfrm xmlns:a="http://schemas.openxmlformats.org/drawingml/2006/main">
            <a:off x="1114425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66E"/>
                </a:solidFill>
                <a:latin typeface="Segoe UI"/>
                <a:ea typeface="Segoe UI"/>
                <a:cs typeface="Segoe UI"/>
              </a:defRPr>
            </a:defPPr>
          </a:lstStyle>
          <a:p xmlns:a="http://schemas.openxmlformats.org/drawingml/2006/main">
            <a:pPr>
              <a:defRPr sz="1200" b="0">
                <a:solidFill>
                  <a:srgbClr val="60766E"/>
                </a:solidFill>
                <a:latin typeface="Segoe UI"/>
                <a:ea typeface="Segoe UI"/>
                <a:cs typeface="Segoe UI"/>
              </a:defRPr>
            </a:pPr>
            <a:r>
              <a:rPr sz="1200" b="0">
                <a:solidFill>
                  <a:srgbClr val="60766E"/>
                </a:solidFill>
                <a:latin typeface="Segoe UI"/>
                <a:ea typeface="Segoe UI"/>
                <a:cs typeface="Segoe UI"/>
              </a:rPr>
              <a:t>06</a:t>
            </a:r>
          </a:p>
        </p:txBody>
      </p:sp>
      <p:sp>
        <p:nvSpPr>
          <p:cNvPr id="3" name="">
            <a:extLst xmlns:a="http://schemas.openxmlformats.org/drawingml/2006/main">
              <a:ext uri="{FF2B5EF4-FFF2-40B4-BE49-F238E27FC236}">
                <a16:creationId xmlns:a16="http://schemas.microsoft.com/office/drawing/2014/main" id="{FF1E6C63-CE80-42A4-9DCD-B1E329414887}"/>
              </a:ext>
            </a:extLst>
          </p:cNvPr>
          <p:cNvSpPr>
            <a:spLocks xmlns:a="http://schemas.openxmlformats.org/drawingml/2006/main" noGrp="1"/>
          </p:cNvSpPr>
          <p:nvPr/>
        </p:nvSpPr>
        <p:spPr>
          <a:xfrm xmlns:a="http://schemas.openxmlformats.org/drawingml/2006/main">
            <a:off x="704850" y="1666875"/>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600" b="1">
                <a:solidFill>
                  <a:srgbClr val="16765F"/>
                </a:solidFill>
                <a:latin typeface="Segoe UI"/>
                <a:ea typeface="Segoe UI"/>
                <a:cs typeface="Segoe UI"/>
              </a:defRPr>
            </a:defPPr>
          </a:lstStyle>
          <a:p xmlns:a="http://schemas.openxmlformats.org/drawingml/2006/main">
            <a:pPr>
              <a:defRPr sz="9600" b="1">
                <a:solidFill>
                  <a:srgbClr val="16765F"/>
                </a:solidFill>
                <a:latin typeface="Segoe UI"/>
                <a:ea typeface="Segoe UI"/>
                <a:cs typeface="Segoe UI"/>
              </a:defRPr>
            </a:pPr>
            <a:r>
              <a:rPr sz="9600" b="1">
                <a:solidFill>
                  <a:srgbClr val="16765F"/>
                </a:solidFill>
                <a:latin typeface="Segoe UI"/>
                <a:ea typeface="Segoe UI"/>
                <a:cs typeface="Segoe UI"/>
              </a:rPr>
              <a:t>32</a:t>
            </a:r>
          </a:p>
        </p:txBody>
      </p:sp>
      <p:sp>
        <p:nvSpPr>
          <p:cNvPr id="4" name="">
            <a:extLst xmlns:a="http://schemas.openxmlformats.org/drawingml/2006/main">
              <a:ext uri="{FF2B5EF4-FFF2-40B4-BE49-F238E27FC236}">
                <a16:creationId xmlns:a16="http://schemas.microsoft.com/office/drawing/2014/main" id="{29BB0AC5-A359-4A14-AA21-67C7A80358B1}"/>
              </a:ext>
            </a:extLst>
          </p:cNvPr>
          <p:cNvSpPr>
            <a:spLocks xmlns:a="http://schemas.openxmlformats.org/drawingml/2006/main" noGrp="1"/>
          </p:cNvSpPr>
          <p:nvPr/>
        </p:nvSpPr>
        <p:spPr>
          <a:xfrm xmlns:a="http://schemas.openxmlformats.org/drawingml/2006/main">
            <a:off x="3476625" y="2000250"/>
            <a:ext cx="781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75" b="1">
                <a:solidFill>
                  <a:srgbClr val="183831"/>
                </a:solidFill>
                <a:latin typeface="Segoe UI"/>
                <a:ea typeface="Segoe UI"/>
                <a:cs typeface="Segoe UI"/>
              </a:defRPr>
            </a:defPPr>
          </a:lstStyle>
          <a:p xmlns:a="http://schemas.openxmlformats.org/drawingml/2006/main">
            <a:pPr>
              <a:defRPr sz="3075" b="1">
                <a:solidFill>
                  <a:srgbClr val="183831"/>
                </a:solidFill>
                <a:latin typeface="Segoe UI"/>
                <a:ea typeface="Segoe UI"/>
                <a:cs typeface="Segoe UI"/>
              </a:defRPr>
            </a:pPr>
            <a:r>
              <a:rPr sz="3075" b="1">
                <a:solidFill>
                  <a:srgbClr val="183831"/>
                </a:solidFill>
                <a:latin typeface="Segoe UI"/>
                <a:ea typeface="Segoe UI"/>
                <a:cs typeface="Segoe UI"/>
              </a:rPr>
              <a:t>kiểm thử tích hợp PASS</a:t>
            </a:r>
          </a:p>
          <a:p xmlns:a="http://schemas.openxmlformats.org/drawingml/2006/main">
            <a:pPr>
              <a:defRPr sz="3075" b="1">
                <a:solidFill>
                  <a:srgbClr val="183831"/>
                </a:solidFill>
                <a:latin typeface="Segoe UI"/>
                <a:ea typeface="Segoe UI"/>
                <a:cs typeface="Segoe UI"/>
              </a:defRPr>
            </a:pPr>
            <a:r>
              <a:rPr sz="3075" b="1">
                <a:solidFill>
                  <a:srgbClr val="183831"/>
                </a:solidFill>
                <a:latin typeface="Segoe UI"/>
                <a:ea typeface="Segoe UI"/>
                <a:cs typeface="Segoe UI"/>
              </a:rPr>
              <a:t>trên EF Core InMemory</a:t>
            </a:r>
          </a:p>
        </p:txBody>
      </p:sp>
      <p:sp>
        <p:nvSpPr>
          <p:cNvPr id="5" name="">
            <a:extLst xmlns:a="http://schemas.openxmlformats.org/drawingml/2006/main">
              <a:ext uri="{FF2B5EF4-FFF2-40B4-BE49-F238E27FC236}">
                <a16:creationId xmlns:a16="http://schemas.microsoft.com/office/drawing/2014/main" id="{4F743967-8D36-4B9B-A461-80C4742667F7}"/>
              </a:ext>
            </a:extLst>
          </p:cNvPr>
          <p:cNvSpPr>
            <a:spLocks xmlns:a="http://schemas.openxmlformats.org/drawingml/2006/main" noGrp="1"/>
          </p:cNvSpPr>
          <p:nvPr/>
        </p:nvSpPr>
        <p:spPr>
          <a:xfrm xmlns:a="http://schemas.openxmlformats.org/drawingml/2006/main">
            <a:off x="704850" y="36195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831"/>
                </a:solidFill>
                <a:latin typeface="Segoe UI"/>
                <a:ea typeface="Segoe UI"/>
                <a:cs typeface="Segoe UI"/>
              </a:defRPr>
            </a:defPPr>
          </a:lstStyle>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Đăng nhập, phân quyền, CRUD và REST</a:t>
            </a:r>
          </a:p>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Lọc AJAX, phân trang và số thập phân</a:t>
            </a:r>
          </a:p>
          <a:p xmlns:a="http://schemas.openxmlformats.org/drawingml/2006/main">
            <a:pPr>
              <a:defRPr sz="2175" b="0">
                <a:solidFill>
                  <a:srgbClr val="183831"/>
                </a:solidFill>
                <a:latin typeface="Segoe UI"/>
                <a:ea typeface="Segoe UI"/>
                <a:cs typeface="Segoe UI"/>
              </a:defRPr>
            </a:pPr>
            <a:r>
              <a:rPr sz="2175" b="0">
                <a:solidFill>
                  <a:srgbClr val="183831"/>
                </a:solidFill>
                <a:latin typeface="Segoe UI"/>
                <a:ea typeface="Segoe UI"/>
                <a:cs typeface="Segoe UI"/>
              </a:rPr>
              <a:t>Bản dịch và khóa tài khoản qua nhiều session</a:t>
            </a:r>
          </a:p>
        </p:txBody>
      </p:sp>
      <p:sp>
        <p:nvSpPr>
          <p:cNvPr id="6" name="">
            <a:extLst xmlns:a="http://schemas.openxmlformats.org/drawingml/2006/main">
              <a:ext uri="{FF2B5EF4-FFF2-40B4-BE49-F238E27FC236}">
                <a16:creationId xmlns:a16="http://schemas.microsoft.com/office/drawing/2014/main" id="{CE86D69D-BAF2-4877-8061-BF96F96A02D7}"/>
              </a:ext>
            </a:extLst>
          </p:cNvPr>
          <p:cNvSpPr>
            <a:spLocks xmlns:a="http://schemas.openxmlformats.org/drawingml/2006/main" noGrp="1"/>
          </p:cNvSpPr>
          <p:nvPr/>
        </p:nvSpPr>
        <p:spPr>
          <a:xfrm xmlns:a="http://schemas.openxmlformats.org/drawingml/2006/main">
            <a:off x="704850" y="5619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9A5B36"/>
                </a:solidFill>
                <a:latin typeface="Segoe UI"/>
                <a:ea typeface="Segoe UI"/>
                <a:cs typeface="Segoe UI"/>
              </a:defRPr>
            </a:defPPr>
          </a:lstStyle>
          <a:p xmlns:a="http://schemas.openxmlformats.org/drawingml/2006/main">
            <a:pPr>
              <a:defRPr sz="2025" b="1">
                <a:solidFill>
                  <a:srgbClr val="9A5B36"/>
                </a:solidFill>
                <a:latin typeface="Segoe UI"/>
                <a:ea typeface="Segoe UI"/>
                <a:cs typeface="Segoe UI"/>
              </a:defRPr>
            </a:pPr>
            <a:r>
              <a:rPr sz="2025" b="1">
                <a:solidFill>
                  <a:srgbClr val="9A5B36"/>
                </a:solidFill>
                <a:latin typeface="Segoe UI"/>
                <a:ea typeface="Segoe UI"/>
                <a:cs typeface="Segoe UI"/>
              </a:rPr>
              <a:t>SQL Server cần chạy bộ kiểm thử riêng trước khi nghiệm thu.</a:t>
            </a:r>
          </a:p>
        </p:txBody>
      </p:sp>
    </p:spTree>
    <p:extLst>
      <p:ext uri="{BB962C8B-B14F-4D97-AF65-F5344CB8AC3E}">
        <p14:creationId xmlns:p14="http://schemas.microsoft.com/office/powerpoint/2010/main" val="1002935617"/>
      </p:ext>
    </p:extLst>
  </p:cSld>
</p:sld>
</file>

<file path=ppt/slides/slide7.xml><?xml version="1.0" encoding="utf-8"?>
<p:sld xmlns:p="http://schemas.openxmlformats.org/presentationml/2006/main">
  <p:cSld>
    <p:bg>
      <p:bgPr>
        <a:solidFill xmlns:a="http://schemas.openxmlformats.org/drawingml/2006/main">
          <a:srgbClr val="F6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11C287-717F-4E68-957C-7937F6AEF6DA}"/>
              </a:ext>
            </a:extLst>
          </p:cNvPr>
          <p:cNvSpPr>
            <a:spLocks xmlns:a="http://schemas.openxmlformats.org/drawingml/2006/main" noGrp="1"/>
          </p:cNvSpPr>
          <p:nvPr/>
        </p:nvSpPr>
        <p:spPr>
          <a:xfrm xmlns:a="http://schemas.openxmlformats.org/drawingml/2006/main">
            <a:off x="666750" y="4762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831"/>
                </a:solidFill>
                <a:latin typeface="Segoe UI"/>
                <a:ea typeface="Segoe UI"/>
                <a:cs typeface="Segoe UI"/>
              </a:defRPr>
            </a:defPPr>
          </a:lstStyle>
          <a:p xmlns:a="http://schemas.openxmlformats.org/drawingml/2006/main">
            <a:pPr>
              <a:defRPr sz="3300" b="1">
                <a:solidFill>
                  <a:srgbClr val="183831"/>
                </a:solidFill>
                <a:latin typeface="Segoe UI"/>
                <a:ea typeface="Segoe UI"/>
                <a:cs typeface="Segoe UI"/>
              </a:defRPr>
            </a:pPr>
            <a:r>
              <a:rPr sz="3300" b="1">
                <a:solidFill>
                  <a:srgbClr val="183831"/>
                </a:solidFill>
                <a:latin typeface="Segoe UI"/>
                <a:ea typeface="Segoe UI"/>
                <a:cs typeface="Segoe UI"/>
              </a:rPr>
              <a:t>Kịch bản demo</a:t>
            </a:r>
          </a:p>
        </p:txBody>
      </p:sp>
      <p:sp>
        <p:nvSpPr>
          <p:cNvPr id="2" name="">
            <a:extLst xmlns:a="http://schemas.openxmlformats.org/drawingml/2006/main">
              <a:ext uri="{FF2B5EF4-FFF2-40B4-BE49-F238E27FC236}">
                <a16:creationId xmlns:a16="http://schemas.microsoft.com/office/drawing/2014/main" id="{C7BE15A2-3C1F-4398-9D7A-25C58BCC25BE}"/>
              </a:ext>
            </a:extLst>
          </p:cNvPr>
          <p:cNvSpPr>
            <a:spLocks xmlns:a="http://schemas.openxmlformats.org/drawingml/2006/main" noGrp="1"/>
          </p:cNvSpPr>
          <p:nvPr/>
        </p:nvSpPr>
        <p:spPr>
          <a:xfrm xmlns:a="http://schemas.openxmlformats.org/drawingml/2006/main">
            <a:off x="1114425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66E"/>
                </a:solidFill>
                <a:latin typeface="Segoe UI"/>
                <a:ea typeface="Segoe UI"/>
                <a:cs typeface="Segoe UI"/>
              </a:defRPr>
            </a:defPPr>
          </a:lstStyle>
          <a:p xmlns:a="http://schemas.openxmlformats.org/drawingml/2006/main">
            <a:pPr>
              <a:defRPr sz="1200" b="0">
                <a:solidFill>
                  <a:srgbClr val="60766E"/>
                </a:solidFill>
                <a:latin typeface="Segoe UI"/>
                <a:ea typeface="Segoe UI"/>
                <a:cs typeface="Segoe UI"/>
              </a:defRPr>
            </a:pPr>
            <a:r>
              <a:rPr sz="1200" b="0">
                <a:solidFill>
                  <a:srgbClr val="60766E"/>
                </a:solidFill>
                <a:latin typeface="Segoe UI"/>
                <a:ea typeface="Segoe UI"/>
                <a:cs typeface="Segoe UI"/>
              </a:rPr>
              <a:t>07</a:t>
            </a:r>
          </a:p>
        </p:txBody>
      </p:sp>
      <p:sp>
        <p:nvSpPr>
          <p:cNvPr id="3" name="">
            <a:extLst xmlns:a="http://schemas.openxmlformats.org/drawingml/2006/main">
              <a:ext uri="{FF2B5EF4-FFF2-40B4-BE49-F238E27FC236}">
                <a16:creationId xmlns:a16="http://schemas.microsoft.com/office/drawing/2014/main" id="{5415A500-52ED-478A-9C47-1543EE87DFAF}"/>
              </a:ext>
            </a:extLst>
          </p:cNvPr>
          <p:cNvSpPr>
            <a:spLocks xmlns:a="http://schemas.openxmlformats.org/drawingml/2006/main" noGrp="1"/>
          </p:cNvSpPr>
          <p:nvPr/>
        </p:nvSpPr>
        <p:spPr>
          <a:xfrm xmlns:a="http://schemas.openxmlformats.org/drawingml/2006/main">
            <a:off x="704850" y="1809750"/>
            <a:ext cx="1066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83831"/>
                </a:solidFill>
                <a:latin typeface="Segoe UI"/>
                <a:ea typeface="Segoe UI"/>
                <a:cs typeface="Segoe UI"/>
              </a:defRPr>
            </a:defPPr>
          </a:lstStyle>
          <a:p xmlns:a="http://schemas.openxmlformats.org/drawingml/2006/main">
            <a:pPr>
              <a:defRPr sz="2625" b="0">
                <a:solidFill>
                  <a:srgbClr val="183831"/>
                </a:solidFill>
                <a:latin typeface="Segoe UI"/>
                <a:ea typeface="Segoe UI"/>
                <a:cs typeface="Segoe UI"/>
              </a:defRPr>
            </a:pPr>
            <a:r>
              <a:rPr sz="2625" b="0">
                <a:solidFill>
                  <a:srgbClr val="183831"/>
                </a:solidFill>
                <a:latin typeface="Segoe UI"/>
                <a:ea typeface="Segoe UI"/>
                <a:cs typeface="Segoe UI"/>
              </a:rPr>
              <a:t>01  Đăng nhập và tạo khách hàng</a:t>
            </a:r>
          </a:p>
          <a:p xmlns:a="http://schemas.openxmlformats.org/drawingml/2006/main">
            <a:pPr>
              <a:defRPr sz="2625" b="0">
                <a:solidFill>
                  <a:srgbClr val="183831"/>
                </a:solidFill>
                <a:latin typeface="Segoe UI"/>
                <a:ea typeface="Segoe UI"/>
                <a:cs typeface="Segoe UI"/>
              </a:defRPr>
            </a:pPr>
            <a:r>
              <a:rPr sz="2625" b="0">
                <a:solidFill>
                  <a:srgbClr val="183831"/>
                </a:solidFill>
                <a:latin typeface="Segoe UI"/>
                <a:ea typeface="Segoe UI"/>
                <a:cs typeface="Segoe UI"/>
              </a:rPr>
              <a:t>02  Tạo hợp đồng với lãi suất 1.5</a:t>
            </a:r>
          </a:p>
          <a:p xmlns:a="http://schemas.openxmlformats.org/drawingml/2006/main">
            <a:pPr>
              <a:defRPr sz="2625" b="0">
                <a:solidFill>
                  <a:srgbClr val="183831"/>
                </a:solidFill>
                <a:latin typeface="Segoe UI"/>
                <a:ea typeface="Segoe UI"/>
                <a:cs typeface="Segoe UI"/>
              </a:defRPr>
            </a:pPr>
            <a:r>
              <a:rPr sz="2625" b="0">
                <a:solidFill>
                  <a:srgbClr val="183831"/>
                </a:solidFill>
                <a:latin typeface="Segoe UI"/>
                <a:ea typeface="Segoe UI"/>
                <a:cs typeface="Segoe UI"/>
              </a:rPr>
              <a:t>03  Sửa trạng thái và lọc danh sách</a:t>
            </a:r>
          </a:p>
          <a:p xmlns:a="http://schemas.openxmlformats.org/drawingml/2006/main">
            <a:pPr>
              <a:defRPr sz="2625" b="0">
                <a:solidFill>
                  <a:srgbClr val="183831"/>
                </a:solidFill>
                <a:latin typeface="Segoe UI"/>
                <a:ea typeface="Segoe UI"/>
                <a:cs typeface="Segoe UI"/>
              </a:defRPr>
            </a:pPr>
            <a:r>
              <a:rPr sz="2625" b="0">
                <a:solidFill>
                  <a:srgbClr val="183831"/>
                </a:solidFill>
                <a:latin typeface="Segoe UI"/>
                <a:ea typeface="Segoe UI"/>
                <a:cs typeface="Segoe UI"/>
              </a:rPr>
              <a:t>04  Kiểm tra phân quyền Staff</a:t>
            </a:r>
          </a:p>
          <a:p xmlns:a="http://schemas.openxmlformats.org/drawingml/2006/main">
            <a:pPr>
              <a:defRPr sz="2625" b="0">
                <a:solidFill>
                  <a:srgbClr val="183831"/>
                </a:solidFill>
                <a:latin typeface="Segoe UI"/>
                <a:ea typeface="Segoe UI"/>
                <a:cs typeface="Segoe UI"/>
              </a:defRPr>
            </a:pPr>
            <a:r>
              <a:rPr sz="2625" b="0">
                <a:solidFill>
                  <a:srgbClr val="183831"/>
                </a:solidFill>
                <a:latin typeface="Segoe UI"/>
                <a:ea typeface="Segoe UI"/>
                <a:cs typeface="Segoe UI"/>
              </a:rPr>
              <a:t>05  Minh họa REST API</a:t>
            </a:r>
          </a:p>
        </p:txBody>
      </p:sp>
      <p:sp>
        <p:nvSpPr>
          <p:cNvPr id="4" name="">
            <a:extLst xmlns:a="http://schemas.openxmlformats.org/drawingml/2006/main">
              <a:ext uri="{FF2B5EF4-FFF2-40B4-BE49-F238E27FC236}">
                <a16:creationId xmlns:a16="http://schemas.microsoft.com/office/drawing/2014/main" id="{9AD51C9B-61C3-4052-B961-3F3F819E3FA5}"/>
              </a:ext>
            </a:extLst>
          </p:cNvPr>
          <p:cNvSpPr>
            <a:spLocks xmlns:a="http://schemas.openxmlformats.org/drawingml/2006/main" noGrp="1"/>
          </p:cNvSpPr>
          <p:nvPr/>
        </p:nvSpPr>
        <p:spPr>
          <a:xfrm xmlns:a="http://schemas.openxmlformats.org/drawingml/2006/main">
            <a:off x="704850" y="5619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60766E"/>
                </a:solidFill>
                <a:latin typeface="Segoe UI"/>
                <a:ea typeface="Segoe UI"/>
                <a:cs typeface="Segoe UI"/>
              </a:defRPr>
            </a:defPPr>
          </a:lstStyle>
          <a:p xmlns:a="http://schemas.openxmlformats.org/drawingml/2006/main">
            <a:pPr>
              <a:defRPr sz="2025" b="0">
                <a:solidFill>
                  <a:srgbClr val="60766E"/>
                </a:solidFill>
                <a:latin typeface="Segoe UI"/>
                <a:ea typeface="Segoe UI"/>
                <a:cs typeface="Segoe UI"/>
              </a:defRPr>
            </a:pPr>
            <a:r>
              <a:rPr sz="2025" b="0">
                <a:solidFill>
                  <a:srgbClr val="60766E"/>
                </a:solidFill>
                <a:latin typeface="Segoe UI"/>
                <a:ea typeface="Segoe UI"/>
                <a:cs typeface="Segoe UI"/>
              </a:rPr>
              <a:t>Khởi tạo dữ liệu bằng Chay-ung-dung.cmd trước buổi demo.</a:t>
            </a:r>
          </a:p>
        </p:txBody>
      </p:sp>
    </p:spTree>
    <p:extLst>
      <p:ext uri="{BB962C8B-B14F-4D97-AF65-F5344CB8AC3E}">
        <p14:creationId xmlns:p14="http://schemas.microsoft.com/office/powerpoint/2010/main" val="1705374269"/>
      </p:ext>
    </p:extLst>
  </p:cSld>
</p:sld>
</file>

<file path=ppt/slides/slide8.xml><?xml version="1.0" encoding="utf-8"?>
<p:sld xmlns:p="http://schemas.openxmlformats.org/presentationml/2006/main">
  <p:cSld>
    <p:bg>
      <p:bgPr>
        <a:solidFill xmlns:a="http://schemas.openxmlformats.org/drawingml/2006/main">
          <a:srgbClr val="F6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7BC9A3-E757-4462-8E9F-2ED28F99AB92}"/>
              </a:ext>
            </a:extLst>
          </p:cNvPr>
          <p:cNvSpPr>
            <a:spLocks xmlns:a="http://schemas.openxmlformats.org/drawingml/2006/main" noGrp="1"/>
          </p:cNvSpPr>
          <p:nvPr/>
        </p:nvSpPr>
        <p:spPr>
          <a:xfrm xmlns:a="http://schemas.openxmlformats.org/drawingml/2006/main">
            <a:off x="666750" y="4762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831"/>
                </a:solidFill>
                <a:latin typeface="Segoe UI"/>
                <a:ea typeface="Segoe UI"/>
                <a:cs typeface="Segoe UI"/>
              </a:defRPr>
            </a:defPPr>
          </a:lstStyle>
          <a:p xmlns:a="http://schemas.openxmlformats.org/drawingml/2006/main">
            <a:pPr>
              <a:defRPr sz="3300" b="1">
                <a:solidFill>
                  <a:srgbClr val="183831"/>
                </a:solidFill>
                <a:latin typeface="Segoe UI"/>
                <a:ea typeface="Segoe UI"/>
                <a:cs typeface="Segoe UI"/>
              </a:defRPr>
            </a:pPr>
            <a:r>
              <a:rPr sz="3300" b="1">
                <a:solidFill>
                  <a:srgbClr val="183831"/>
                </a:solidFill>
                <a:latin typeface="Segoe UI"/>
                <a:ea typeface="Segoe UI"/>
                <a:cs typeface="Segoe UI"/>
              </a:rPr>
              <a:t>Kết luận và hướng phát triển</a:t>
            </a:r>
          </a:p>
        </p:txBody>
      </p:sp>
      <p:sp>
        <p:nvSpPr>
          <p:cNvPr id="2" name="">
            <a:extLst xmlns:a="http://schemas.openxmlformats.org/drawingml/2006/main">
              <a:ext uri="{FF2B5EF4-FFF2-40B4-BE49-F238E27FC236}">
                <a16:creationId xmlns:a16="http://schemas.microsoft.com/office/drawing/2014/main" id="{24E8C26C-388B-4CAA-8048-4AF3D8EF7042}"/>
              </a:ext>
            </a:extLst>
          </p:cNvPr>
          <p:cNvSpPr>
            <a:spLocks xmlns:a="http://schemas.openxmlformats.org/drawingml/2006/main" noGrp="1"/>
          </p:cNvSpPr>
          <p:nvPr/>
        </p:nvSpPr>
        <p:spPr>
          <a:xfrm xmlns:a="http://schemas.openxmlformats.org/drawingml/2006/main">
            <a:off x="1114425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66E"/>
                </a:solidFill>
                <a:latin typeface="Segoe UI"/>
                <a:ea typeface="Segoe UI"/>
                <a:cs typeface="Segoe UI"/>
              </a:defRPr>
            </a:defPPr>
          </a:lstStyle>
          <a:p xmlns:a="http://schemas.openxmlformats.org/drawingml/2006/main">
            <a:pPr>
              <a:defRPr sz="1200" b="0">
                <a:solidFill>
                  <a:srgbClr val="60766E"/>
                </a:solidFill>
                <a:latin typeface="Segoe UI"/>
                <a:ea typeface="Segoe UI"/>
                <a:cs typeface="Segoe UI"/>
              </a:defRPr>
            </a:pPr>
            <a:r>
              <a:rPr sz="1200" b="0">
                <a:solidFill>
                  <a:srgbClr val="60766E"/>
                </a:solidFill>
                <a:latin typeface="Segoe UI"/>
                <a:ea typeface="Segoe UI"/>
                <a:cs typeface="Segoe UI"/>
              </a:rPr>
              <a:t>08</a:t>
            </a:r>
          </a:p>
        </p:txBody>
      </p:sp>
      <p:sp>
        <p:nvSpPr>
          <p:cNvPr id="3" name="">
            <a:extLst xmlns:a="http://schemas.openxmlformats.org/drawingml/2006/main">
              <a:ext uri="{FF2B5EF4-FFF2-40B4-BE49-F238E27FC236}">
                <a16:creationId xmlns:a16="http://schemas.microsoft.com/office/drawing/2014/main" id="{6F77F926-942D-45AC-9210-7AA56A056B9C}"/>
              </a:ext>
            </a:extLst>
          </p:cNvPr>
          <p:cNvSpPr>
            <a:spLocks xmlns:a="http://schemas.openxmlformats.org/drawingml/2006/main" noGrp="1"/>
          </p:cNvSpPr>
          <p:nvPr/>
        </p:nvSpPr>
        <p:spPr>
          <a:xfrm xmlns:a="http://schemas.openxmlformats.org/drawingml/2006/main">
            <a:off x="704850" y="1762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765F"/>
                </a:solidFill>
                <a:latin typeface="Segoe UI"/>
                <a:ea typeface="Segoe UI"/>
                <a:cs typeface="Segoe UI"/>
              </a:defRPr>
            </a:defPPr>
          </a:lstStyle>
          <a:p xmlns:a="http://schemas.openxmlformats.org/drawingml/2006/main">
            <a:pPr>
              <a:defRPr sz="3150" b="1">
                <a:solidFill>
                  <a:srgbClr val="16765F"/>
                </a:solidFill>
                <a:latin typeface="Segoe UI"/>
                <a:ea typeface="Segoe UI"/>
                <a:cs typeface="Segoe UI"/>
              </a:defRPr>
            </a:pPr>
            <a:r>
              <a:rPr sz="3150" b="1">
                <a:solidFill>
                  <a:srgbClr val="16765F"/>
                </a:solidFill>
                <a:latin typeface="Segoe UI"/>
                <a:ea typeface="Segoe UI"/>
                <a:cs typeface="Segoe UI"/>
              </a:rPr>
              <a:t>Đã có nền tảng quản lý theo tiêu chí bài tập</a:t>
            </a:r>
          </a:p>
        </p:txBody>
      </p:sp>
      <p:sp>
        <p:nvSpPr>
          <p:cNvPr id="4" name="">
            <a:extLst xmlns:a="http://schemas.openxmlformats.org/drawingml/2006/main">
              <a:ext uri="{FF2B5EF4-FFF2-40B4-BE49-F238E27FC236}">
                <a16:creationId xmlns:a16="http://schemas.microsoft.com/office/drawing/2014/main" id="{586DD47A-1B6D-4E03-8DDF-363B24797C5D}"/>
              </a:ext>
            </a:extLst>
          </p:cNvPr>
          <p:cNvSpPr>
            <a:spLocks xmlns:a="http://schemas.openxmlformats.org/drawingml/2006/main" noGrp="1"/>
          </p:cNvSpPr>
          <p:nvPr/>
        </p:nvSpPr>
        <p:spPr>
          <a:xfrm xmlns:a="http://schemas.openxmlformats.org/drawingml/2006/main">
            <a:off x="704850" y="309562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831"/>
                </a:solidFill>
                <a:latin typeface="Segoe UI"/>
                <a:ea typeface="Segoe UI"/>
                <a:cs typeface="Segoe UI"/>
              </a:defRPr>
            </a:defPPr>
          </a:lstStyle>
          <a:p xmlns:a="http://schemas.openxmlformats.org/drawingml/2006/main">
            <a:pPr>
              <a:defRPr sz="2325" b="0">
                <a:solidFill>
                  <a:srgbClr val="183831"/>
                </a:solidFill>
                <a:latin typeface="Segoe UI"/>
                <a:ea typeface="Segoe UI"/>
                <a:cs typeface="Segoe UI"/>
              </a:defRPr>
            </a:pPr>
            <a:r>
              <a:rPr sz="2325" b="0">
                <a:solidFill>
                  <a:srgbClr val="183831"/>
                </a:solidFill>
                <a:latin typeface="Segoe UI"/>
                <a:ea typeface="Segoe UI"/>
                <a:cs typeface="Segoe UI"/>
              </a:rPr>
              <a:t>MVC, CRUD, phân quyền, AJAX và REST API</a:t>
            </a:r>
          </a:p>
          <a:p xmlns:a="http://schemas.openxmlformats.org/drawingml/2006/main">
            <a:pPr>
              <a:defRPr sz="2325" b="0">
                <a:solidFill>
                  <a:srgbClr val="183831"/>
                </a:solidFill>
                <a:latin typeface="Segoe UI"/>
                <a:ea typeface="Segoe UI"/>
                <a:cs typeface="Segoe UI"/>
              </a:defRPr>
            </a:pPr>
            <a:r>
              <a:rPr sz="2325" b="0">
                <a:solidFill>
                  <a:srgbClr val="183831"/>
                </a:solidFill>
                <a:latin typeface="Segoe UI"/>
                <a:ea typeface="Segoe UI"/>
                <a:cs typeface="Segoe UI"/>
              </a:rPr>
              <a:t>Session, cookie, validation và hai ngôn ngữ</a:t>
            </a:r>
          </a:p>
        </p:txBody>
      </p:sp>
      <p:sp>
        <p:nvSpPr>
          <p:cNvPr id="5" name="">
            <a:extLst xmlns:a="http://schemas.openxmlformats.org/drawingml/2006/main">
              <a:ext uri="{FF2B5EF4-FFF2-40B4-BE49-F238E27FC236}">
                <a16:creationId xmlns:a16="http://schemas.microsoft.com/office/drawing/2014/main" id="{B428B46E-EBCF-4B7C-9F3C-B52DC95D2AB6}"/>
              </a:ext>
            </a:extLst>
          </p:cNvPr>
          <p:cNvSpPr>
            <a:spLocks xmlns:a="http://schemas.openxmlformats.org/drawingml/2006/main" noGrp="1"/>
          </p:cNvSpPr>
          <p:nvPr/>
        </p:nvSpPr>
        <p:spPr>
          <a:xfrm xmlns:a="http://schemas.openxmlformats.org/drawingml/2006/main">
            <a:off x="704850" y="4762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83831"/>
                </a:solidFill>
                <a:latin typeface="Segoe UI"/>
                <a:ea typeface="Segoe UI"/>
                <a:cs typeface="Segoe UI"/>
              </a:defRPr>
            </a:defPPr>
          </a:lstStyle>
          <a:p xmlns:a="http://schemas.openxmlformats.org/drawingml/2006/main">
            <a:pPr>
              <a:defRPr sz="2400" b="1">
                <a:solidFill>
                  <a:srgbClr val="183831"/>
                </a:solidFill>
                <a:latin typeface="Segoe UI"/>
                <a:ea typeface="Segoe UI"/>
                <a:cs typeface="Segoe UI"/>
              </a:defRPr>
            </a:pPr>
            <a:r>
              <a:rPr sz="2400" b="1">
                <a:solidFill>
                  <a:srgbClr val="183831"/>
                </a:solidFill>
                <a:latin typeface="Segoe UI"/>
                <a:ea typeface="Segoe UI"/>
                <a:cs typeface="Segoe UI"/>
              </a:rPr>
              <a:t>Bước tiếp theo</a:t>
            </a:r>
          </a:p>
        </p:txBody>
      </p:sp>
      <p:sp>
        <p:nvSpPr>
          <p:cNvPr id="6" name="">
            <a:extLst xmlns:a="http://schemas.openxmlformats.org/drawingml/2006/main">
              <a:ext uri="{FF2B5EF4-FFF2-40B4-BE49-F238E27FC236}">
                <a16:creationId xmlns:a16="http://schemas.microsoft.com/office/drawing/2014/main" id="{39581D79-0C51-4B93-83DC-4169959D6A0A}"/>
              </a:ext>
            </a:extLst>
          </p:cNvPr>
          <p:cNvSpPr>
            <a:spLocks xmlns:a="http://schemas.openxmlformats.org/drawingml/2006/main" noGrp="1"/>
          </p:cNvSpPr>
          <p:nvPr/>
        </p:nvSpPr>
        <p:spPr>
          <a:xfrm xmlns:a="http://schemas.openxmlformats.org/drawingml/2006/main">
            <a:off x="704850" y="53816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60766E"/>
                </a:solidFill>
                <a:latin typeface="Segoe UI"/>
                <a:ea typeface="Segoe UI"/>
                <a:cs typeface="Segoe UI"/>
              </a:defRPr>
            </a:defPPr>
          </a:lstStyle>
          <a:p xmlns:a="http://schemas.openxmlformats.org/drawingml/2006/main">
            <a:pPr>
              <a:defRPr sz="2100" b="0">
                <a:solidFill>
                  <a:srgbClr val="60766E"/>
                </a:solidFill>
                <a:latin typeface="Segoe UI"/>
                <a:ea typeface="Segoe UI"/>
                <a:cs typeface="Segoe UI"/>
              </a:defRPr>
            </a:pPr>
            <a:r>
              <a:rPr sz="2100" b="0">
                <a:solidFill>
                  <a:srgbClr val="60766E"/>
                </a:solidFill>
                <a:latin typeface="Segoe UI"/>
                <a:ea typeface="Segoe UI"/>
                <a:cs typeface="Segoe UI"/>
              </a:rPr>
              <a:t>Xác nhận SQL Server và bổ sung lịch sử giao dịch,</a:t>
            </a:r>
          </a:p>
          <a:p xmlns:a="http://schemas.openxmlformats.org/drawingml/2006/main">
            <a:pPr>
              <a:defRPr sz="2100" b="0">
                <a:solidFill>
                  <a:srgbClr val="60766E"/>
                </a:solidFill>
                <a:latin typeface="Segoe UI"/>
                <a:ea typeface="Segoe UI"/>
                <a:cs typeface="Segoe UI"/>
              </a:defRPr>
            </a:pPr>
            <a:r>
              <a:rPr sz="2100" b="0">
                <a:solidFill>
                  <a:srgbClr val="60766E"/>
                </a:solidFill>
                <a:latin typeface="Segoe UI"/>
                <a:ea typeface="Segoe UI"/>
                <a:cs typeface="Segoe UI"/>
              </a:rPr>
              <a:t>nhật ký kiểm toán và khôi phục dữ liệu.</a:t>
            </a:r>
          </a:p>
        </p:txBody>
      </p:sp>
    </p:spTree>
    <p:extLst>
      <p:ext uri="{BB962C8B-B14F-4D97-AF65-F5344CB8AC3E}">
        <p14:creationId xmlns:p14="http://schemas.microsoft.com/office/powerpoint/2010/main" val="14509944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2026-10-16T13:47:55.3440000Z</dcterms:created>
  <dcterms:modified xsi:type="dcterms:W3CDTF">2026-10-16T13:47:55.3440000Z</dcterms:modified>
</coreProperties>
</file>